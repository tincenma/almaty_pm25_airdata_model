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d90ce6c64f427d" /><Relationship Type="http://schemas.openxmlformats.org/officeDocument/2006/relationships/extended-properties" Target="/docProps/app.xml" Id="R1fd73a9b7ab84d4d" /><Relationship Type="http://schemas.openxmlformats.org/officeDocument/2006/relationships/officeDocument" Target="/ppt/presentation.xml" Id="R9e701e80b68544c4" /></Relationships>
</file>

<file path=ppt/presentation.xml><?xml version="1.0" encoding="utf-8"?>
<p:presentation xmlns:p="http://schemas.openxmlformats.org/presentationml/2006/main">
  <p:sldMasterIdLst>
    <p:sldMasterId xmlns:r="http://schemas.openxmlformats.org/officeDocument/2006/relationships" id="2147483648" r:id="R5fef435e56b44de3"/>
  </p:sldMasterIdLst>
  <p:notesMasterIdLst>
    <p:notesMasterId xmlns:r="http://schemas.openxmlformats.org/officeDocument/2006/relationships" r:id="Re86a2fb804544b76"/>
  </p:notesMasterIdLst>
  <p:sldIdLst>
    <p:sldId xmlns:r="http://schemas.openxmlformats.org/officeDocument/2006/relationships" id="256" r:id="Rfd526cf205fd4660"/>
    <p:sldId xmlns:r="http://schemas.openxmlformats.org/officeDocument/2006/relationships" id="257" r:id="R0fbd8791a7f4411d"/>
    <p:sldId xmlns:r="http://schemas.openxmlformats.org/officeDocument/2006/relationships" id="258" r:id="R3e31cb06fd9b4892"/>
    <p:sldId xmlns:r="http://schemas.openxmlformats.org/officeDocument/2006/relationships" id="259" r:id="Raa716bb9e8c0421a"/>
    <p:sldId xmlns:r="http://schemas.openxmlformats.org/officeDocument/2006/relationships" id="260" r:id="Rd9d327b3e2b94ac3"/>
    <p:sldId xmlns:r="http://schemas.openxmlformats.org/officeDocument/2006/relationships" id="261" r:id="R9f7ec6c6a0dd417f"/>
    <p:sldId xmlns:r="http://schemas.openxmlformats.org/officeDocument/2006/relationships" id="262" r:id="Re4b3cceb2c7e4e40"/>
    <p:sldId xmlns:r="http://schemas.openxmlformats.org/officeDocument/2006/relationships" id="263" r:id="R774df32724e947e8"/>
    <p:sldId xmlns:r="http://schemas.openxmlformats.org/officeDocument/2006/relationships" id="264" r:id="Rbd2c8dcde130400d"/>
    <p:sldId xmlns:r="http://schemas.openxmlformats.org/officeDocument/2006/relationships" id="265" r:id="R9f2c62689e344184"/>
    <p:sldId xmlns:r="http://schemas.openxmlformats.org/officeDocument/2006/relationships" id="266" r:id="R2163729e283649e3"/>
    <p:sldId xmlns:r="http://schemas.openxmlformats.org/officeDocument/2006/relationships" id="267" r:id="R275877483abd4bd3"/>
    <p:sldId xmlns:r="http://schemas.openxmlformats.org/officeDocument/2006/relationships" id="268" r:id="Rc86bb9851d334627"/>
    <p:sldId xmlns:r="http://schemas.openxmlformats.org/officeDocument/2006/relationships" id="269" r:id="R49ac64003a824b16"/>
    <p:sldId xmlns:r="http://schemas.openxmlformats.org/officeDocument/2006/relationships" id="270" r:id="R7373e3a1585045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df2c4b37d745ce" /><Relationship Type="http://schemas.openxmlformats.org/officeDocument/2006/relationships/slideMaster" Target="/ppt/slideMasters/slideMaster1.xml" Id="R5fef435e56b44de3" /><Relationship Type="http://schemas.openxmlformats.org/officeDocument/2006/relationships/notesMaster" Target="/ppt/notesMasters/notesMaster1.xml" Id="Re86a2fb804544b76" /><Relationship Type="http://schemas.openxmlformats.org/officeDocument/2006/relationships/presProps" Target="/ppt/presProps.xml" Id="R0eee59cd0820498c" /><Relationship Type="http://schemas.openxmlformats.org/officeDocument/2006/relationships/tableStyles" Target="/ppt/tableStyles.xml" Id="R5e8adcae51fd4244" /><Relationship Type="http://schemas.openxmlformats.org/officeDocument/2006/relationships/slide" Target="/ppt/slides/slide1.xml" Id="Rfd526cf205fd4660" /><Relationship Type="http://schemas.openxmlformats.org/officeDocument/2006/relationships/slide" Target="/ppt/slides/slide2.xml" Id="R0fbd8791a7f4411d" /><Relationship Type="http://schemas.openxmlformats.org/officeDocument/2006/relationships/slide" Target="/ppt/slides/slide3.xml" Id="R3e31cb06fd9b4892" /><Relationship Type="http://schemas.openxmlformats.org/officeDocument/2006/relationships/slide" Target="/ppt/slides/slide4.xml" Id="Raa716bb9e8c0421a" /><Relationship Type="http://schemas.openxmlformats.org/officeDocument/2006/relationships/slide" Target="/ppt/slides/slide5.xml" Id="Rd9d327b3e2b94ac3" /><Relationship Type="http://schemas.openxmlformats.org/officeDocument/2006/relationships/slide" Target="/ppt/slides/slide6.xml" Id="R9f7ec6c6a0dd417f" /><Relationship Type="http://schemas.openxmlformats.org/officeDocument/2006/relationships/slide" Target="/ppt/slides/slide7.xml" Id="Re4b3cceb2c7e4e40" /><Relationship Type="http://schemas.openxmlformats.org/officeDocument/2006/relationships/slide" Target="/ppt/slides/slide8.xml" Id="R774df32724e947e8" /><Relationship Type="http://schemas.openxmlformats.org/officeDocument/2006/relationships/slide" Target="/ppt/slides/slide9.xml" Id="Rbd2c8dcde130400d" /><Relationship Type="http://schemas.openxmlformats.org/officeDocument/2006/relationships/slide" Target="/ppt/slides/slide10.xml" Id="R9f2c62689e344184" /><Relationship Type="http://schemas.openxmlformats.org/officeDocument/2006/relationships/slide" Target="/ppt/slides/slide11.xml" Id="R2163729e283649e3" /><Relationship Type="http://schemas.openxmlformats.org/officeDocument/2006/relationships/slide" Target="/ppt/slides/slide12.xml" Id="R275877483abd4bd3" /><Relationship Type="http://schemas.openxmlformats.org/officeDocument/2006/relationships/slide" Target="/ppt/slides/slide13.xml" Id="Rc86bb9851d334627" /><Relationship Type="http://schemas.openxmlformats.org/officeDocument/2006/relationships/slide" Target="/ppt/slides/slide14.xml" Id="R49ac64003a824b16" /><Relationship Type="http://schemas.openxmlformats.org/officeDocument/2006/relationships/slide" Target="/ppt/slides/slide15.xml" Id="R7373e3a1585045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854c896e1342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b4937545f84cf6" /><Relationship Type="http://schemas.openxmlformats.org/officeDocument/2006/relationships/notesMaster" Target="/ppt/notesMasters/notesMaster1.xml" Id="R120a573e880d4a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a727efa5954fc0" /><Relationship Type="http://schemas.openxmlformats.org/officeDocument/2006/relationships/notesMaster" Target="/ppt/notesMasters/notesMaster1.xml" Id="R8a4608b2b4d24f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b34e87863f475d" /><Relationship Type="http://schemas.openxmlformats.org/officeDocument/2006/relationships/notesMaster" Target="/ppt/notesMasters/notesMaster1.xml" Id="Rf5cbed30653e4e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b0739406bf4f03" /><Relationship Type="http://schemas.openxmlformats.org/officeDocument/2006/relationships/notesMaster" Target="/ppt/notesMasters/notesMaster1.xml" Id="Rab771d60da7f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1e6651a72540d3" /><Relationship Type="http://schemas.openxmlformats.org/officeDocument/2006/relationships/notesMaster" Target="/ppt/notesMasters/notesMaster1.xml" Id="R2ace4442ef7c4b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e98bf852d748cd" /><Relationship Type="http://schemas.openxmlformats.org/officeDocument/2006/relationships/notesMaster" Target="/ppt/notesMasters/notesMaster1.xml" Id="R236acc338d524a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7e783af94c4ed5" /><Relationship Type="http://schemas.openxmlformats.org/officeDocument/2006/relationships/notesMaster" Target="/ppt/notesMasters/notesMaster1.xml" Id="R3724094a708f4c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a0e1bd379e400a" /><Relationship Type="http://schemas.openxmlformats.org/officeDocument/2006/relationships/notesMaster" Target="/ppt/notesMasters/notesMaster1.xml" Id="Rad5d409ec28c4c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4fd1fa8d7548e7" /><Relationship Type="http://schemas.openxmlformats.org/officeDocument/2006/relationships/notesMaster" Target="/ppt/notesMasters/notesMaster1.xml" Id="Rdebda94ab92b45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dfd011e5f442a6" /><Relationship Type="http://schemas.openxmlformats.org/officeDocument/2006/relationships/notesMaster" Target="/ppt/notesMasters/notesMaster1.xml" Id="Rb10b0cbacc2040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d408b96b864eb2" /><Relationship Type="http://schemas.openxmlformats.org/officeDocument/2006/relationships/notesMaster" Target="/ppt/notesMasters/notesMaster1.xml" Id="R6b3067adda7f4f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28323b87064a89" /><Relationship Type="http://schemas.openxmlformats.org/officeDocument/2006/relationships/notesMaster" Target="/ppt/notesMasters/notesMaster1.xml" Id="R4d8d51665df148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3a892da0db4c2f" /><Relationship Type="http://schemas.openxmlformats.org/officeDocument/2006/relationships/notesMaster" Target="/ppt/notesMasters/notesMaster1.xml" Id="Rb0e6f63c327b42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2896b81e7246fa" /><Relationship Type="http://schemas.openxmlformats.org/officeDocument/2006/relationships/notesMaster" Target="/ppt/notesMasters/notesMaster1.xml" Id="Rb05dc4d57ecb4a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997b3a741fc4652" /><Relationship Type="http://schemas.openxmlformats.org/officeDocument/2006/relationships/notesMaster" Target="/ppt/notesMasters/notesMaster1.xml" Id="R9c31107d690540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Our project predicts hourly PM2.5 concentration for individual Almaty stations one, six and 24 hours ahead. We built both an evaluation workflow and an application. The central finding is a useful six-hour improvement, alongside important failures that constrain next-day use. Explain personal contributions truthfully if asked; this deck does not assign unverified team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PM2.5 is fine particulate matter. Our output is concentration in micrograms per cubic metre at a future station hour. We ask whether learned patterns improve on simply repeating the latest reading. The project also addresses a practical problem: public data can arrive late and contain gaps. Its scope is individual stations, so it cannot establish a citywide exposure or health 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The historical US Embassy experiment uses 2020 through 2022 for training, 2023 for validation and 2024 for testing. The reporting-station experiment uses PCP 31 and a separate snapshot. Its test starts in September 2025. The stations and periods differ, so smaller errors at PCP 31 are not a direct model superiority comparison.</a:t>
            </a:r>
          </a:p>
          <a:p xmlns:a="http://schemas.openxmlformats.org/drawingml/2006/main">
            <a:r>
              <a:t/>
            </a:r>
          </a:p>
          <a:p xmlns:a="http://schemas.openxmlformats.org/drawingml/2006/main">
            <a:r>
              <a:t>Sources: artifacts/experiment.json; artifacts/current/experiment.json; https://github.com/qazybekb/AirDatakz-OpenData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We preserve missing hours on an hourly grid so lag 24 means 24 elapsed hours, rather than 24 available readings. Features include the current value, nine lags, rolling means, standard deviations and observed counts. Calendar features use Almaty local time. Training fits imputation on training rows only. We never fill missing targets. Daily eligibility requires at least 18 observed hours out of 24. No weather or neighbouring-station inputs are included.</a:t>
            </a:r>
          </a:p>
          <a:p xmlns:a="http://schemas.openxmlformats.org/drawingml/2006/main">
            <a:r>
              <a:t/>
            </a:r>
          </a:p>
          <a:p xmlns:a="http://schemas.openxmlformats.org/drawingml/2006/main">
            <a:r>
              <a:t>Sources: backend/app/features.py; backend/train_current.py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We use chronological partitions and purge origins when their future targets cross the boundary. At PCP 31 the validation and test boundaries are based on eligible-origin quantiles, which accommodates long gaps but changes seasonal representation. Validation chooses settings. Evaluation refits only on pre-test labels. A separate deployment refit uses all available labelled data after testing. We preserve both types of pipeline.</a:t>
            </a:r>
          </a:p>
          <a:p xmlns:a="http://schemas.openxmlformats.org/drawingml/2006/main">
            <a:r>
              <a:t/>
            </a:r>
          </a:p>
          <a:p xmlns:a="http://schemas.openxmlformats.org/drawingml/2006/main">
            <a:r>
              <a:t>Sources: backend/train_current.py; artifacts/current/experiment.json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Ridge gives a fast linear comparison after scaling. XGBoost can learn nonlinear feature combinations. We compare a small fixed search and minimize validation MAE. PCP 31 selects 350 trees with depth five at each horizon. Persistence repeats the origin value. Same hour yesterday refers to the target hour on the previous day. At a 24-hour horizon it is identical to persistence, so it is not a second independent next-day baseline.</a:t>
            </a:r>
          </a:p>
          <a:p xmlns:a="http://schemas.openxmlformats.org/drawingml/2006/main">
            <a:r>
              <a:t/>
            </a:r>
          </a:p>
          <a:p xmlns:a="http://schemas.openxmlformats.org/drawingml/2006/main">
            <a:r>
              <a:t>Sources: backend/train_current.py; https://arxiv.org/abs/1603.02754; https://otexts.com/fpp3/simple-methods.html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These are PCP 31 test results. At six hours XGBoost MAE is 6.33 against 9.18 for persistence, an approximately 31 percent reduction. One-hour MAE is 2.94 and next-day MAE is 7.12. We compare on identical eligible rows within each horizon. The table of uncertainty on a later slide explains why the six-hour improvement has stronger evidence than the other two.</a:t>
            </a:r>
          </a:p>
          <a:p xmlns:a="http://schemas.openxmlformats.org/drawingml/2006/main">
            <a:r>
              <a:t/>
            </a:r>
          </a:p>
          <a:p xmlns:a="http://schemas.openxmlformats.org/drawingml/2006/main">
            <a:r>
              <a:t>Sources: artifacts/current/test_metrics.csv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The independent historical station also shows the largest relative MAE improvement at six hours, approximately 22 percent. Ridge remains competitive and has better RMSE at some horizons. A history-versus-calendar validation ablation decreases six-hour MAE from 13.97 to 11.66, but calendar features slightly worsen next-day MAE. This ablation belongs to the historical experiment.</a:t>
            </a:r>
          </a:p>
          <a:p xmlns:a="http://schemas.openxmlformats.org/drawingml/2006/main">
            <a:r>
              <a:t/>
            </a:r>
          </a:p>
          <a:p xmlns:a="http://schemas.openxmlformats.org/drawingml/2006/main">
            <a:r>
              <a:t>Sources: artifacts/test_metrics.csv; artifacts/validation_feature_ablation.csv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These rows compare the same model with persistence on specific next-day groups. On historical peaks, XGBoost loses despite its overall gain. At PCP 31, sparse weekly history gives MAE 5.17 versus 2.44, and spring gives 4.30 versus 3.05. Different rows are different subgroups and stations, not directly comparable exposure regimes. PCP 31 also underpredicts its high-concentration group with mean bias minus 20.56. We cannot attribute these errors to weather because weather is absent.</a:t>
            </a:r>
          </a:p>
          <a:p xmlns:a="http://schemas.openxmlformats.org/drawingml/2006/main">
            <a:r>
              <a:t/>
            </a:r>
          </a:p>
          <a:p xmlns:a="http://schemas.openxmlformats.org/drawingml/2006/main">
            <a:r>
              <a:t>Sources: artifacts/peak_errors.csv; artifacts/current/analysis/sparse_history_errors.csv; artifacts/current/analysis/season_errors.csv; artifacts/current/analysis/peak_errors.csv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We pair model and baseline errors and resample seven-day blocks 2000 times. Nineteen blocks contain eligible observations. Only the six-hour interval excludes zero. These are approximate intervals for aggregate MAE improvement, not bounds around tomorrow’s concentration. There are no eligible summer examples and only three October next-day examples. We therefore cannot claim year-round or current-condition reliability.</a:t>
            </a:r>
          </a:p>
          <a:p xmlns:a="http://schemas.openxmlformats.org/drawingml/2006/main">
            <a:r>
              <a:t/>
            </a:r>
          </a:p>
          <a:p xmlns:a="http://schemas.openxmlformats.org/drawingml/2006/main">
            <a:r>
              <a:t>Sources: artifacts/current/analysis/paired_block_bootstrap.csv; artifacts/current/analysis/recent_period_errors.csv; artifacts/current/analysis/season_errors.csv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This screenshot shows the recorded 10 October demonstration. The app uses React and TypeScript with a FastAPI backend. Refresh retrieves measurements and reruns the saved pipelines. The target date starts from the measured hour. A next-day point can therefore appear, but it is not an arbitrary future-date forecast. Daily and weekly counts show the input context. If publication delays make the input stale, the app warns users and labels expired target hours.</a:t>
            </a:r>
          </a:p>
          <a:p xmlns:a="http://schemas.openxmlformats.org/drawingml/2006/main">
            <a:r>
              <a:t/>
            </a:r>
          </a:p>
          <a:p xmlns:a="http://schemas.openxmlformats.org/drawingml/2006/main">
            <a:r>
              <a:t>Sources: latest-forecast-preview.jpg; backend/app/current.py; frontend/src/App.tsx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Reproduce mode verifies the immutable dataset hash and uses the recorded station, settings and chronological boundaries. It works independently of today’s date. Update mode downloads fresh data and applies station freshness checks, saving a new experiment without automatically replacing deployed models. Our repeated run matches the saved predictions and metrics. We conclude that six-hour forecasts are useful in the held-out evidence, while peaks and sparse history require further work. Weather features, calibrated prediction intervals and fallback rules need a new evaluation period.</a:t>
            </a:r>
          </a:p>
          <a:p xmlns:a="http://schemas.openxmlformats.org/drawingml/2006/main">
            <a:r>
              <a:t/>
            </a:r>
          </a:p>
          <a:p xmlns:a="http://schemas.openxmlformats.org/drawingml/2006/main">
            <a:r>
              <a:t>Sources: backend/train_current.py; backend/tests/test_training_modes.py; artifacts/reproduce/verified-run/test_metrics.csv;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after the six-minute talk, then switch to the app at http://127.0.0.1:8000/. Minute 0 to 1: latest station identity, origin time and 24/168-hour coverage. Minute 1 to 2: target cards, the next-day target and a past target if applicable. Minute 2 to 3: refresh, explain inference versus retraining, and export CSV. If refresh fails, explain the saved-data warning rather than claiming fresh data. Minute 3 to 4: historical replay, choose a valid 2024 origin and reveal observed outcomes. Minute 4 to 5: station directory, distinguish reporting stations from the trained station and explain reproducibility. Keep the recorded screenshot as fallback for a network outage.</a:t>
            </a:r>
          </a:p>
          <a:p xmlns:a="http://schemas.openxmlformats.org/drawingml/2006/main">
            <a:r>
              <a:t/>
            </a:r>
          </a:p>
          <a:p xmlns:a="http://schemas.openxmlformats.org/drawingml/2006/main">
            <a:r>
              <a:t>Sources: README.md; frontend/src/App.tsx; backend/app/current.py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during the three-minute question period. Why XGBoost? It won the fixed validation comparison; no claim against untested model families. Why no future date picker? The estimator predicts only the trained horizons after the latest observed origin, and requires real historical inputs. Why not trust the average MAE? Peaks, spring and sparse-history groups can lose to persistence. Does the model use live measurements? It uses the latest published public snapshot, with delays and missingness displayed. Contribution question: explain your actual implementation and analysis work, and disclose AI assistance according to your course policy.</a:t>
            </a:r>
          </a:p>
          <a:p xmlns:a="http://schemas.openxmlformats.org/drawingml/2006/main">
            <a:r>
              <a:t/>
            </a:r>
          </a:p>
          <a:p xmlns:a="http://schemas.openxmlformats.org/drawingml/2006/main">
            <a:r>
              <a:t>Sources: MODEL_FAILURES.md;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a reference slide and do not read every citation aloud. Measurement attribution: AirData.kz and original providers. Methods: Chen and Guestrin 2016 and Hyndman and Athanasopoulos 2021. Empirical results come from the saved project manifests, test metrics and failure analysis, not these external papers. Supporting materials include the research paper, notebook, reproducible trainer, backend tests and application.</a:t>
            </a:r>
          </a:p>
          <a:p xmlns:a="http://schemas.openxmlformats.org/drawingml/2006/main">
            <a:r>
              <a:t/>
            </a:r>
          </a:p>
          <a:p xmlns:a="http://schemas.openxmlformats.org/drawingml/2006/main">
            <a:r>
              <a:t>Sources: https://github.com/qazybekb/AirDatakz-OpenData; https://arxiv.org/abs/1603.02754; https://otexts.com/fpp3/; paper/Almaty_PM25_Research_Paper.docx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dfeb47704e43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6c71900a8746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e77fb3c1b44e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4fce48890f48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5ce379730842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858cf28d8e4c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C5336-6FBE-44AB-8224-879DF5B888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4295C4-5F79-4A34-A19B-2C7F472232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DB730D-E130-4C52-8D7C-EFC3A2F427A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E1D61E-7541-4E28-AEDA-D597FDBD21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96A804-99BC-4B68-A3D9-160E5D071A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E8D324-9356-45C7-B21A-6DF63057E5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A9D563-B5F9-46D3-88AD-5D815360309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101741-4EE7-4328-9638-5F0DCA892C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D4F80A-CEB3-47C4-A49B-07A1C67093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B3F48D-D051-417C-BA5A-791FEBB4B4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c77f6d57284b91" /><Relationship Type="http://schemas.openxmlformats.org/officeDocument/2006/relationships/slideLayout" Target="/ppt/slideLayouts/slideLayout1.xml" Id="R3efdec847c074c7b" /><Relationship Type="http://schemas.openxmlformats.org/officeDocument/2006/relationships/slideLayout" Target="/ppt/slideLayouts/slideLayout2.xml" Id="R58bfaa38094c4051" /><Relationship Type="http://schemas.openxmlformats.org/officeDocument/2006/relationships/slideLayout" Target="/ppt/slideLayouts/slideLayout3.xml" Id="R0679ed01eba74734" /><Relationship Type="http://schemas.openxmlformats.org/officeDocument/2006/relationships/slideLayout" Target="/ppt/slideLayouts/slideLayout4.xml" Id="R646cb8c541824104" /><Relationship Type="http://schemas.openxmlformats.org/officeDocument/2006/relationships/slideLayout" Target="/ppt/slideLayouts/slideLayout5.xml" Id="R10614a3b2761493a" /><Relationship Type="http://schemas.openxmlformats.org/officeDocument/2006/relationships/slideLayout" Target="/ppt/slideLayouts/slideLayout6.xml" Id="Rf30641428eac4b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fdec847c074c7b"/>
    <p:sldLayoutId xmlns:r="http://schemas.openxmlformats.org/officeDocument/2006/relationships" id="2147483650" r:id="R58bfaa38094c4051"/>
    <p:sldLayoutId xmlns:r="http://schemas.openxmlformats.org/officeDocument/2006/relationships" id="2147483651" r:id="R0679ed01eba74734"/>
    <p:sldLayoutId xmlns:r="http://schemas.openxmlformats.org/officeDocument/2006/relationships" id="2147483652" r:id="R646cb8c541824104"/>
    <p:sldLayoutId xmlns:r="http://schemas.openxmlformats.org/officeDocument/2006/relationships" id="2147483653" r:id="R10614a3b2761493a"/>
    <p:sldLayoutId xmlns:r="http://schemas.openxmlformats.org/officeDocument/2006/relationships" id="2147483654" r:id="Rf30641428eac4b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cf4341047d4103" /><Relationship Type="http://schemas.openxmlformats.org/officeDocument/2006/relationships/notesSlide" Target="/ppt/notesSlides/notesSlide1.xml" Id="Red452567218145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8af448ef4c481f" /><Relationship Type="http://schemas.openxmlformats.org/officeDocument/2006/relationships/notesSlide" Target="/ppt/notesSlides/notesSlide2.xml" Id="R8c88bf7b34434a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2fee5ee176f41b5" /><Relationship Type="http://schemas.openxmlformats.org/officeDocument/2006/relationships/notesSlide" Target="/ppt/notesSlides/notesSlide3.xml" Id="R6d7f873e5d2544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34c94dff904f00" /><Relationship Type="http://schemas.openxmlformats.org/officeDocument/2006/relationships/notesSlide" Target="/ppt/notesSlides/notesSlide4.xml" Id="R03d5d491100e4e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d0a04e92294766" /><Relationship Type="http://schemas.openxmlformats.org/officeDocument/2006/relationships/notesSlide" Target="/ppt/notesSlides/notesSlide5.xml" Id="Rf7388f2ec95e47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b19cd300f24e1d" /><Relationship Type="http://schemas.openxmlformats.org/officeDocument/2006/relationships/notesSlide" Target="/ppt/notesSlides/notesSlide6.xml" Id="Reda66cdf618845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c04a3c20744983" /><Relationship Type="http://schemas.openxmlformats.org/officeDocument/2006/relationships/chart" Target="/ppt/slides/charts/chart1.xml" Id="R857faa8b71db439f" /><Relationship Type="http://schemas.openxmlformats.org/officeDocument/2006/relationships/notesSlide" Target="/ppt/notesSlides/notesSlide7.xml" Id="Rc42a9d6820ae4f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854649b7e04d97" /><Relationship Type="http://schemas.openxmlformats.org/officeDocument/2006/relationships/chart" Target="/ppt/slides/charts/chart2.xml" Id="Rfb98a5c8ca454529" /><Relationship Type="http://schemas.openxmlformats.org/officeDocument/2006/relationships/notesSlide" Target="/ppt/notesSlides/notesSlide8.xml" Id="Rfffa6992ebc342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eef8e5ab204260" /><Relationship Type="http://schemas.openxmlformats.org/officeDocument/2006/relationships/notesSlide" Target="/ppt/notesSlides/notesSlide9.xml" Id="Rb78216a2235248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a39b17243e448b" /><Relationship Type="http://schemas.openxmlformats.org/officeDocument/2006/relationships/notesSlide" Target="/ppt/notesSlides/notesSlide10.xml" Id="R056571a1314d4f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868099fbf16403d" /><Relationship Type="http://schemas.openxmlformats.org/officeDocument/2006/relationships/image" Target="/ppt/media/image.png" Id="Re2ded207a5c6471e" /><Relationship Type="http://schemas.openxmlformats.org/officeDocument/2006/relationships/notesSlide" Target="/ppt/notesSlides/notesSlide11.xml" Id="Re7974aa059134d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071e26e1af64871" /><Relationship Type="http://schemas.openxmlformats.org/officeDocument/2006/relationships/notesSlide" Target="/ppt/notesSlides/notesSlide12.xml" Id="R6fe68b02d99240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a8bce988c3450c" /><Relationship Type="http://schemas.openxmlformats.org/officeDocument/2006/relationships/notesSlide" Target="/ppt/notesSlides/notesSlide13.xml" Id="R95b5b3bf68d747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6396c40e5534ab3" /><Relationship Type="http://schemas.openxmlformats.org/officeDocument/2006/relationships/notesSlide" Target="/ppt/notesSlides/notesSlide14.xml" Id="Re4de16b6d14e47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fa8b16ee5794f91" /><Relationship Type="http://schemas.openxmlformats.org/officeDocument/2006/relationships/notesSlide" Target="/ppt/notesSlides/notesSlide15.xml" Id="R878ac2bef3d5401b" /></Relationships>
</file>

<file path=ppt/slides/charts/chart1.xml><?xml version="1.0" encoding="utf-8"?>
<c:chartSpace xmlns:c="http://schemas.openxmlformats.org/drawingml/2006/chart">
  <c:lang val="en-US"/>
  <c:chart>
    <c:plotArea>
      <c:barChart>
        <c:barDir val="col"/>
        <c:grouping val="clustered"/>
        <c:varyColors val="0"/>
        <c:ser>
          <c:idx val="0"/>
          <c:order val="0"/>
          <c:tx>
            <c:v>XGBoost</c:v>
          </c:tx>
          <c:spPr>
            <a:solidFill xmlns:a="http://schemas.openxmlformats.org/drawingml/2006/main">
              <a:srgbClr val="216657"/>
            </a:solidFill>
          </c:spPr>
          <c:cat>
            <c:strLit>
              <c:ptCount val="3"/>
              <c:pt idx="0">
                <c:v>1 hour</c:v>
              </c:pt>
              <c:pt idx="1">
                <c:v>6 hours</c:v>
              </c:pt>
              <c:pt idx="2">
                <c:v>24 hours</c:v>
              </c:pt>
            </c:strLit>
          </c:cat>
          <c:val>
            <c:numLit>
              <c:formatCode>0</c:formatCode>
              <c:ptCount val="3"/>
              <c:pt idx="0">
                <c:v>2.9382069587</c:v>
              </c:pt>
              <c:pt idx="1">
                <c:v>6.3341650892</c:v>
              </c:pt>
              <c:pt idx="2">
                <c:v>7.1210334171</c:v>
              </c:pt>
            </c:numLit>
          </c:val>
        </c:ser>
        <c:ser>
          <c:idx val="1"/>
          <c:order val="1"/>
          <c:tx>
            <c:v>Persistence</c:v>
          </c:tx>
          <c:spPr>
            <a:solidFill xmlns:a="http://schemas.openxmlformats.org/drawingml/2006/main">
              <a:srgbClr val="BBC6C1"/>
            </a:solidFill>
          </c:spPr>
          <c:cat>
            <c:strLit>
              <c:ptCount val="3"/>
              <c:pt idx="0">
                <c:v>1 hour</c:v>
              </c:pt>
              <c:pt idx="1">
                <c:v>6 hours</c:v>
              </c:pt>
              <c:pt idx="2">
                <c:v>24 hours</c:v>
              </c:pt>
            </c:strLit>
          </c:cat>
          <c:val>
            <c:numLit>
              <c:formatCode>0</c:formatCode>
              <c:ptCount val="3"/>
              <c:pt idx="0">
                <c:v>3.0326214372</c:v>
              </c:pt>
              <c:pt idx="1">
                <c:v>9.1814084507</c:v>
              </c:pt>
              <c:pt idx="2">
                <c:v>7.9825114536</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52B29"/>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C6C1"/>
            </a:solidFill>
          </a:ln>
        </c:spPr>
        <c:txPr>
          <a:bodyPr xmlns:a="http://schemas.openxmlformats.org/drawingml/2006/main" anchorCtr="1"/>
          <a:lstStyle xmlns:a="http://schemas.openxmlformats.org/drawingml/2006/main"/>
          <a:p xmlns:a="http://schemas.openxmlformats.org/drawingml/2006/main">
            <a:pPr>
              <a:defRPr sz="1875">
                <a:solidFill>
                  <a:srgbClr val="152B29"/>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7620">
              <a:solidFill>
                <a:srgbClr val="DFE6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46663"/>
                </a:solidFill>
                <a:latin typeface="Arial"/>
                <a:ea typeface="Arial"/>
                <a:cs typeface="Arial"/>
              </a:defRPr>
            </a:pPr>
          </a:p>
        </c:txPr>
        <c:crossAx val="48650112"/>
        <c:crossBetween val="between"/>
        <c:majorUnit val="2"/>
      </c:valAx>
      <c:spPr>
        <a:solidFill xmlns:a="http://schemas.openxmlformats.org/drawingml/2006/main">
          <a:srgbClr val="FA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52B29"/>
              </a:solidFill>
              <a:latin typeface="Arial"/>
              <a:ea typeface="Arial"/>
              <a:cs typeface="Arial"/>
            </a:defRPr>
          </a:pPr>
        </a:p>
      </c:txPr>
    </c:legend>
    <c:plotVisOnly val="1"/>
  </c:chart>
  <c:spPr>
    <a:solidFill xmlns:a="http://schemas.openxmlformats.org/drawingml/2006/main">
      <a:srgbClr val="FAFBF8"/>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XGBoost</c:v>
          </c:tx>
          <c:spPr>
            <a:solidFill xmlns:a="http://schemas.openxmlformats.org/drawingml/2006/main">
              <a:srgbClr val="216657"/>
            </a:solidFill>
          </c:spPr>
          <c:cat>
            <c:strLit>
              <c:ptCount val="3"/>
              <c:pt idx="0">
                <c:v>1 hour</c:v>
              </c:pt>
              <c:pt idx="1">
                <c:v>6 hours</c:v>
              </c:pt>
              <c:pt idx="2">
                <c:v>24 hours</c:v>
              </c:pt>
            </c:strLit>
          </c:cat>
          <c:val>
            <c:numLit>
              <c:formatCode>0</c:formatCode>
              <c:ptCount val="3"/>
              <c:pt idx="0">
                <c:v>5.3952759973</c:v>
              </c:pt>
              <c:pt idx="1">
                <c:v>11.0107139152</c:v>
              </c:pt>
              <c:pt idx="2">
                <c:v>12.160606382</c:v>
              </c:pt>
            </c:numLit>
          </c:val>
        </c:ser>
        <c:ser>
          <c:idx val="1"/>
          <c:order val="1"/>
          <c:tx>
            <c:v>Persistence</c:v>
          </c:tx>
          <c:spPr>
            <a:solidFill xmlns:a="http://schemas.openxmlformats.org/drawingml/2006/main">
              <a:srgbClr val="BBC6C1"/>
            </a:solidFill>
          </c:spPr>
          <c:cat>
            <c:strLit>
              <c:ptCount val="3"/>
              <c:pt idx="0">
                <c:v>1 hour</c:v>
              </c:pt>
              <c:pt idx="1">
                <c:v>6 hours</c:v>
              </c:pt>
              <c:pt idx="2">
                <c:v>24 hours</c:v>
              </c:pt>
            </c:strLit>
          </c:cat>
          <c:val>
            <c:numLit>
              <c:formatCode>0</c:formatCode>
              <c:ptCount val="3"/>
              <c:pt idx="0">
                <c:v>5.4995667244</c:v>
              </c:pt>
              <c:pt idx="1">
                <c:v>14.1460119134</c:v>
              </c:pt>
              <c:pt idx="2">
                <c:v>13.4497979949</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52B29"/>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C6C1"/>
            </a:solidFill>
          </a:ln>
        </c:spPr>
        <c:txPr>
          <a:bodyPr xmlns:a="http://schemas.openxmlformats.org/drawingml/2006/main" anchorCtr="1"/>
          <a:lstStyle xmlns:a="http://schemas.openxmlformats.org/drawingml/2006/main"/>
          <a:p xmlns:a="http://schemas.openxmlformats.org/drawingml/2006/main">
            <a:pPr>
              <a:defRPr sz="1875">
                <a:solidFill>
                  <a:srgbClr val="152B29"/>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7620">
              <a:solidFill>
                <a:srgbClr val="DFE6E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46663"/>
                </a:solidFill>
                <a:latin typeface="Arial"/>
                <a:ea typeface="Arial"/>
                <a:cs typeface="Arial"/>
              </a:defRPr>
            </a:pPr>
          </a:p>
        </c:txPr>
        <c:crossAx val="48650112"/>
        <c:crossBetween val="between"/>
        <c:majorUnit val="5"/>
      </c:valAx>
      <c:spPr>
        <a:solidFill xmlns:a="http://schemas.openxmlformats.org/drawingml/2006/main">
          <a:srgbClr val="FAFBF8"/>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52B29"/>
              </a:solidFill>
              <a:latin typeface="Arial"/>
              <a:ea typeface="Arial"/>
              <a:cs typeface="Arial"/>
            </a:defRPr>
          </a:pPr>
        </a:p>
      </c:txPr>
    </c:legend>
    <c:plotVisOnly val="1"/>
  </c:chart>
  <c:spPr>
    <a:solidFill xmlns:a="http://schemas.openxmlformats.org/drawingml/2006/main">
      <a:srgbClr val="FAFBF8"/>
    </a:solidFill>
  </c:spPr>
</c:chartSpace>
</file>

<file path=ppt/slides/slide1.xml><?xml version="1.0" encoding="utf-8"?>
<p:sld xmlns:p="http://schemas.openxmlformats.org/presentationml/2006/main">
  <p:cSld>
    <p:bg>
      <p:bgPr>
        <a:solidFill xmlns:a="http://schemas.openxmlformats.org/drawingml/2006/main">
          <a:srgbClr val="152B2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539888F-6C61-4F7A-857B-E4604D70885D}"/>
              </a:ext>
            </a:extLst>
          </p:cNvPr>
          <p:cNvSpPr>
            <a:spLocks xmlns:a="http://schemas.openxmlformats.org/drawingml/2006/main" noGrp="1"/>
          </p:cNvSpPr>
          <p:nvPr/>
        </p:nvSpPr>
        <p:spPr>
          <a:xfrm xmlns:a="http://schemas.openxmlformats.org/drawingml/2006/main">
            <a:off x="666750" y="14287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PM2.5 forecasting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in Almaty</a:t>
            </a:r>
          </a:p>
        </p:txBody>
      </p:sp>
      <p:sp>
        <p:nvSpPr>
          <p:cNvPr id="2" name="">
            <a:extLst xmlns:a="http://schemas.openxmlformats.org/drawingml/2006/main">
              <a:ext uri="{FF2B5EF4-FFF2-40B4-BE49-F238E27FC236}">
                <a16:creationId xmlns:a16="http://schemas.microsoft.com/office/drawing/2014/main" id="{54CB7055-6F9C-451D-B09C-3519BC99254E}"/>
              </a:ext>
            </a:extLst>
          </p:cNvPr>
          <p:cNvSpPr>
            <a:spLocks xmlns:a="http://schemas.openxmlformats.org/drawingml/2006/main" noGrp="1"/>
          </p:cNvSpPr>
          <p:nvPr/>
        </p:nvSpPr>
        <p:spPr>
          <a:xfrm xmlns:a="http://schemas.openxmlformats.org/drawingml/2006/main">
            <a:off x="695325" y="338137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D9E5DF"/>
                </a:solidFill>
                <a:latin typeface="Arial"/>
                <a:ea typeface="Arial"/>
                <a:cs typeface="Arial"/>
              </a:defRPr>
            </a:defPPr>
          </a:lstStyle>
          <a:p xmlns:a="http://schemas.openxmlformats.org/drawingml/2006/main">
            <a:pPr>
              <a:defRPr sz="2250" b="0">
                <a:solidFill>
                  <a:srgbClr val="D9E5DF"/>
                </a:solidFill>
                <a:latin typeface="Arial"/>
                <a:ea typeface="Arial"/>
                <a:cs typeface="Arial"/>
              </a:defRPr>
            </a:pPr>
            <a:r>
              <a:rPr sz="2250" b="0">
                <a:solidFill>
                  <a:srgbClr val="D9E5DF"/>
                </a:solidFill>
                <a:latin typeface="Arial"/>
                <a:ea typeface="Arial"/>
                <a:cs typeface="Arial"/>
              </a:rPr>
              <a:t>Open station data and a reproducible forecasting application</a:t>
            </a:r>
          </a:p>
        </p:txBody>
      </p:sp>
      <p:sp>
        <p:nvSpPr>
          <p:cNvPr id="3" name="">
            <a:extLst xmlns:a="http://schemas.openxmlformats.org/drawingml/2006/main">
              <a:ext uri="{FF2B5EF4-FFF2-40B4-BE49-F238E27FC236}">
                <a16:creationId xmlns:a16="http://schemas.microsoft.com/office/drawing/2014/main" id="{FE00121F-6220-4066-AE9E-9A240B944DAA}"/>
              </a:ext>
            </a:extLst>
          </p:cNvPr>
          <p:cNvSpPr>
            <a:spLocks xmlns:a="http://schemas.openxmlformats.org/drawingml/2006/main" noGrp="1"/>
          </p:cNvSpPr>
          <p:nvPr/>
        </p:nvSpPr>
        <p:spPr>
          <a:xfrm xmlns:a="http://schemas.openxmlformats.org/drawingml/2006/main">
            <a:off x="695325" y="4705350"/>
            <a:ext cx="1009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Temirlan Ilyassov</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AAI-2605M, Astana IT University</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AI Essentials: Theory and Application</a:t>
            </a:r>
          </a:p>
        </p:txBody>
      </p:sp>
    </p:spTree>
    <p:extLst>
      <p:ext uri="{BB962C8B-B14F-4D97-AF65-F5344CB8AC3E}">
        <p14:creationId xmlns:p14="http://schemas.microsoft.com/office/powerpoint/2010/main" val="352287791"/>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4445A2-A57E-41C1-91F6-14CD2AB66193}"/>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Forecasting task and research question</a:t>
            </a:r>
          </a:p>
        </p:txBody>
      </p:sp>
      <p:sp>
        <p:nvSpPr>
          <p:cNvPr id="2" name="">
            <a:extLst xmlns:a="http://schemas.openxmlformats.org/drawingml/2006/main">
              <a:ext uri="{FF2B5EF4-FFF2-40B4-BE49-F238E27FC236}">
                <a16:creationId xmlns:a16="http://schemas.microsoft.com/office/drawing/2014/main" id="{D84DB777-6032-44A3-8E34-58FA55279937}"/>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C5FE41C-DE28-4012-B567-EDC99D3C6149}"/>
              </a:ext>
            </a:extLst>
          </p:cNvPr>
          <p:cNvSpPr>
            <a:spLocks xmlns:a="http://schemas.openxmlformats.org/drawingml/2006/main" noGrp="1"/>
          </p:cNvSpPr>
          <p:nvPr/>
        </p:nvSpPr>
        <p:spPr>
          <a:xfrm xmlns:a="http://schemas.openxmlformats.org/drawingml/2006/main">
            <a:off x="628650" y="17621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Target</a:t>
            </a:r>
          </a:p>
        </p:txBody>
      </p:sp>
      <p:sp>
        <p:nvSpPr>
          <p:cNvPr id="4" name="">
            <a:extLst xmlns:a="http://schemas.openxmlformats.org/drawingml/2006/main">
              <a:ext uri="{FF2B5EF4-FFF2-40B4-BE49-F238E27FC236}">
                <a16:creationId xmlns:a16="http://schemas.microsoft.com/office/drawing/2014/main" id="{2BB029B1-BBC8-48F3-AD31-5AF3F6535925}"/>
              </a:ext>
            </a:extLst>
          </p:cNvPr>
          <p:cNvSpPr>
            <a:spLocks xmlns:a="http://schemas.openxmlformats.org/drawingml/2006/main" noGrp="1"/>
          </p:cNvSpPr>
          <p:nvPr/>
        </p:nvSpPr>
        <p:spPr>
          <a:xfrm xmlns:a="http://schemas.openxmlformats.org/drawingml/2006/main">
            <a:off x="3381375" y="17621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Station-level hourly PM2.5 concentration in µg/m³</a:t>
            </a:r>
          </a:p>
        </p:txBody>
      </p:sp>
      <p:sp>
        <p:nvSpPr>
          <p:cNvPr id="5" name="">
            <a:extLst xmlns:a="http://schemas.openxmlformats.org/drawingml/2006/main">
              <a:ext uri="{FF2B5EF4-FFF2-40B4-BE49-F238E27FC236}">
                <a16:creationId xmlns:a16="http://schemas.microsoft.com/office/drawing/2014/main" id="{3EFEB303-D436-4C44-8B7C-0CD41C318AD6}"/>
              </a:ext>
            </a:extLst>
          </p:cNvPr>
          <p:cNvSpPr>
            <a:spLocks xmlns:a="http://schemas.openxmlformats.org/drawingml/2006/main" noGrp="1"/>
          </p:cNvSpPr>
          <p:nvPr/>
        </p:nvSpPr>
        <p:spPr>
          <a:xfrm xmlns:a="http://schemas.openxmlformats.org/drawingml/2006/main">
            <a:off x="628650" y="29051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Horizons</a:t>
            </a:r>
          </a:p>
        </p:txBody>
      </p:sp>
      <p:sp>
        <p:nvSpPr>
          <p:cNvPr id="6" name="">
            <a:extLst xmlns:a="http://schemas.openxmlformats.org/drawingml/2006/main">
              <a:ext uri="{FF2B5EF4-FFF2-40B4-BE49-F238E27FC236}">
                <a16:creationId xmlns:a16="http://schemas.microsoft.com/office/drawing/2014/main" id="{43FB37FC-C2FB-4548-AB5D-C697BA39C687}"/>
              </a:ext>
            </a:extLst>
          </p:cNvPr>
          <p:cNvSpPr>
            <a:spLocks xmlns:a="http://schemas.openxmlformats.org/drawingml/2006/main" noGrp="1"/>
          </p:cNvSpPr>
          <p:nvPr/>
        </p:nvSpPr>
        <p:spPr>
          <a:xfrm xmlns:a="http://schemas.openxmlformats.org/drawingml/2006/main">
            <a:off x="3381375" y="29051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1, 6 and 24 hours after an observed origin</a:t>
            </a:r>
          </a:p>
        </p:txBody>
      </p:sp>
      <p:sp>
        <p:nvSpPr>
          <p:cNvPr id="7" name="">
            <a:extLst xmlns:a="http://schemas.openxmlformats.org/drawingml/2006/main">
              <a:ext uri="{FF2B5EF4-FFF2-40B4-BE49-F238E27FC236}">
                <a16:creationId xmlns:a16="http://schemas.microsoft.com/office/drawing/2014/main" id="{8E6641B2-A77A-4552-AD88-3E158C05A3FD}"/>
              </a:ext>
            </a:extLst>
          </p:cNvPr>
          <p:cNvSpPr>
            <a:spLocks xmlns:a="http://schemas.openxmlformats.org/drawingml/2006/main" noGrp="1"/>
          </p:cNvSpPr>
          <p:nvPr/>
        </p:nvSpPr>
        <p:spPr>
          <a:xfrm xmlns:a="http://schemas.openxmlformats.org/drawingml/2006/main">
            <a:off x="628650" y="40481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Question</a:t>
            </a:r>
          </a:p>
        </p:txBody>
      </p:sp>
      <p:sp>
        <p:nvSpPr>
          <p:cNvPr id="8" name="">
            <a:extLst xmlns:a="http://schemas.openxmlformats.org/drawingml/2006/main">
              <a:ext uri="{FF2B5EF4-FFF2-40B4-BE49-F238E27FC236}">
                <a16:creationId xmlns:a16="http://schemas.microsoft.com/office/drawing/2014/main" id="{75622E8D-E55C-4B85-8C97-C97D71C528CB}"/>
              </a:ext>
            </a:extLst>
          </p:cNvPr>
          <p:cNvSpPr>
            <a:spLocks xmlns:a="http://schemas.openxmlformats.org/drawingml/2006/main" noGrp="1"/>
          </p:cNvSpPr>
          <p:nvPr/>
        </p:nvSpPr>
        <p:spPr>
          <a:xfrm xmlns:a="http://schemas.openxmlformats.org/drawingml/2006/main">
            <a:off x="3381375" y="40481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Do history and calendar features improve on persistence?</a:t>
            </a:r>
          </a:p>
        </p:txBody>
      </p:sp>
      <p:sp>
        <p:nvSpPr>
          <p:cNvPr id="9" name="">
            <a:extLst xmlns:a="http://schemas.openxmlformats.org/drawingml/2006/main">
              <a:ext uri="{FF2B5EF4-FFF2-40B4-BE49-F238E27FC236}">
                <a16:creationId xmlns:a16="http://schemas.microsoft.com/office/drawing/2014/main" id="{EA126FE5-B85A-4AF5-B607-0240566E41C6}"/>
              </a:ext>
            </a:extLst>
          </p:cNvPr>
          <p:cNvSpPr>
            <a:spLocks xmlns:a="http://schemas.openxmlformats.org/drawingml/2006/main" noGrp="1"/>
          </p:cNvSpPr>
          <p:nvPr/>
        </p:nvSpPr>
        <p:spPr>
          <a:xfrm xmlns:a="http://schemas.openxmlformats.org/drawingml/2006/main">
            <a:off x="628650" y="5476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663"/>
                </a:solidFill>
                <a:latin typeface="Arial"/>
                <a:ea typeface="Arial"/>
                <a:cs typeface="Arial"/>
              </a:defRPr>
            </a:defPPr>
          </a:lstStyle>
          <a:p xmlns:a="http://schemas.openxmlformats.org/drawingml/2006/main">
            <a:pPr>
              <a:defRPr sz="1875" b="0">
                <a:solidFill>
                  <a:srgbClr val="546663"/>
                </a:solidFill>
                <a:latin typeface="Arial"/>
                <a:ea typeface="Arial"/>
                <a:cs typeface="Arial"/>
              </a:defRPr>
            </a:pPr>
            <a:r>
              <a:rPr sz="1875" b="0">
                <a:solidFill>
                  <a:srgbClr val="546663"/>
                </a:solidFill>
                <a:latin typeface="Arial"/>
                <a:ea typeface="Arial"/>
                <a:cs typeface="Arial"/>
              </a:rPr>
              <a:t>Publication delays and missing history affect how a forecast should be used</a:t>
            </a:r>
          </a:p>
        </p:txBody>
      </p:sp>
    </p:spTree>
    <p:extLst>
      <p:ext uri="{BB962C8B-B14F-4D97-AF65-F5344CB8AC3E}">
        <p14:creationId xmlns:p14="http://schemas.microsoft.com/office/powerpoint/2010/main" val="1431459103"/>
      </p:ext>
    </p:extLst>
  </p:cSld>
</p:sld>
</file>

<file path=ppt/slides/slide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9FEB00-5D59-4F9B-92CE-5EFF67CB7836}"/>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Two separate station experiments</a:t>
            </a:r>
          </a:p>
        </p:txBody>
      </p:sp>
      <p:sp>
        <p:nvSpPr>
          <p:cNvPr id="2" name="">
            <a:extLst xmlns:a="http://schemas.openxmlformats.org/drawingml/2006/main">
              <a:ext uri="{FF2B5EF4-FFF2-40B4-BE49-F238E27FC236}">
                <a16:creationId xmlns:a16="http://schemas.microsoft.com/office/drawing/2014/main" id="{1D7619A6-5EC5-4302-9298-1D6C7CAFD5C1}"/>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DB80718D-61C0-43C7-9C2B-30297D73BDA0}"/>
              </a:ext>
            </a:extLst>
          </p:cNvPr>
          <p:cNvGraphicFramePr/>
          <p:nvPr/>
        </p:nvGraphicFramePr>
        <p:xfrm>
          <a:off xmlns:a="http://schemas.openxmlformats.org/drawingml/2006/main" x="609600" y="1733550"/>
          <a:ext xmlns:a="http://schemas.openxmlformats.org/drawingml/2006/main" cx="10953750" cy="2781300"/>
        </p:xfrm>
        <a:graphic xmlns:a="http://schemas.openxmlformats.org/drawingml/2006/main">
          <a:graphicData uri="http://schemas.openxmlformats.org/drawingml/2006/table">
            <a:tbl>
              <a:tblPr/>
              <a:tblGrid>
                <a:gridCol w="2762250"/>
                <a:gridCol w="4095750"/>
                <a:gridCol w="4095750"/>
              </a:tblGrid>
              <a:tr h="927100">
                <a:tc>
                  <a:txBody>
                    <a:bodyPr/>
                    <a:lstStyle/>
                    <a:p>
                      <a:r>
                        <a:rPr sz="2025" b="1">
                          <a:solidFill>
                            <a:srgbClr val="FFFFFF"/>
                          </a:solidFill>
                          <a:latin typeface="Arial"/>
                          <a:ea typeface="Arial"/>
                          <a:cs typeface="Arial"/>
                        </a:rPr>
                        <a:t>Experiment</a:t>
                      </a:r>
                    </a:p>
                  </a:txBody>
                  <a:tcPr marL="133350" marR="133350" marT="95250" marB="95250">
                    <a:solidFill>
                      <a:srgbClr val="216657"/>
                    </a:solidFill>
                  </a:tcPr>
                </a:tc>
                <a:tc>
                  <a:txBody>
                    <a:bodyPr/>
                    <a:lstStyle/>
                    <a:p>
                      <a:r>
                        <a:rPr sz="2025" b="1">
                          <a:solidFill>
                            <a:srgbClr val="FFFFFF"/>
                          </a:solidFill>
                          <a:latin typeface="Arial"/>
                          <a:ea typeface="Arial"/>
                          <a:cs typeface="Arial"/>
                        </a:rPr>
                        <a:t>Station</a:t>
                      </a:r>
                    </a:p>
                  </a:txBody>
                  <a:tcPr marL="133350" marR="133350" marT="95250" marB="95250">
                    <a:solidFill>
                      <a:srgbClr val="216657"/>
                    </a:solidFill>
                  </a:tcPr>
                </a:tc>
                <a:tc>
                  <a:txBody>
                    <a:bodyPr/>
                    <a:lstStyle/>
                    <a:p>
                      <a:r>
                        <a:rPr sz="2025" b="1">
                          <a:solidFill>
                            <a:srgbClr val="FFFFFF"/>
                          </a:solidFill>
                          <a:latin typeface="Arial"/>
                          <a:ea typeface="Arial"/>
                          <a:cs typeface="Arial"/>
                        </a:rPr>
                        <a:t>Held-out period</a:t>
                      </a:r>
                    </a:p>
                  </a:txBody>
                  <a:tcPr marL="133350" marR="133350" marT="95250" marB="95250">
                    <a:solidFill>
                      <a:srgbClr val="216657"/>
                    </a:solidFill>
                  </a:tcPr>
                </a:tc>
              </a:tr>
              <a:tr h="927100">
                <a:tc>
                  <a:txBody>
                    <a:bodyPr/>
                    <a:lstStyle/>
                    <a:p>
                      <a:r>
                        <a:rPr sz="2025" b="0">
                          <a:solidFill>
                            <a:srgbClr val="152B29"/>
                          </a:solidFill>
                          <a:latin typeface="Arial"/>
                          <a:ea typeface="Arial"/>
                          <a:cs typeface="Arial"/>
                        </a:rPr>
                        <a:t>Historical replay</a:t>
                      </a:r>
                    </a:p>
                  </a:txBody>
                  <a:tcPr marL="133350" marR="133350" marT="95250" marB="95250">
                    <a:solidFill>
                      <a:srgbClr val="FFFFFF"/>
                    </a:solidFill>
                  </a:tcPr>
                </a:tc>
                <a:tc>
                  <a:txBody>
                    <a:bodyPr/>
                    <a:lstStyle/>
                    <a:p>
                      <a:r>
                        <a:rPr sz="2025" b="0">
                          <a:solidFill>
                            <a:srgbClr val="152B29"/>
                          </a:solidFill>
                          <a:latin typeface="Arial"/>
                          <a:ea typeface="Arial"/>
                          <a:cs typeface="Arial"/>
                        </a:rPr>
                        <a:t>US Embassy</a:t>
                      </a:r>
                    </a:p>
                    <a:p>
                      <a:r>
                        <a:rPr sz="2025" b="0">
                          <a:solidFill>
                            <a:srgbClr val="152B29"/>
                          </a:solidFill>
                          <a:latin typeface="Arial"/>
                          <a:ea typeface="Arial"/>
                          <a:cs typeface="Arial"/>
                        </a:rPr>
                        <a:t>oaq_25903</a:t>
                      </a:r>
                    </a:p>
                  </a:txBody>
                  <a:tcPr marL="133350" marR="133350" marT="95250" marB="95250">
                    <a:solidFill>
                      <a:srgbClr val="FFFFFF"/>
                    </a:solidFill>
                  </a:tcPr>
                </a:tc>
                <a:tc>
                  <a:txBody>
                    <a:bodyPr/>
                    <a:lstStyle/>
                    <a:p>
                      <a:r>
                        <a:rPr sz="2025" b="0">
                          <a:solidFill>
                            <a:srgbClr val="152B29"/>
                          </a:solidFill>
                          <a:latin typeface="Arial"/>
                          <a:ea typeface="Arial"/>
                          <a:cs typeface="Arial"/>
                        </a:rPr>
                        <a:t>2024</a:t>
                      </a:r>
                    </a:p>
                  </a:txBody>
                  <a:tcPr marL="133350" marR="133350" marT="95250" marB="95250">
                    <a:solidFill>
                      <a:srgbClr val="FFFFFF"/>
                    </a:solidFill>
                  </a:tcPr>
                </a:tc>
              </a:tr>
              <a:tr h="927100">
                <a:tc>
                  <a:txBody>
                    <a:bodyPr/>
                    <a:lstStyle/>
                    <a:p>
                      <a:r>
                        <a:rPr sz="2025" b="0">
                          <a:solidFill>
                            <a:srgbClr val="152B29"/>
                          </a:solidFill>
                          <a:latin typeface="Arial"/>
                          <a:ea typeface="Arial"/>
                          <a:cs typeface="Arial"/>
                        </a:rPr>
                        <a:t>Latest forecast</a:t>
                      </a:r>
                    </a:p>
                  </a:txBody>
                  <a:tcPr marL="133350" marR="133350" marT="95250" marB="95250">
                    <a:solidFill>
                      <a:srgbClr val="F0F4EF"/>
                    </a:solidFill>
                  </a:tcPr>
                </a:tc>
                <a:tc>
                  <a:txBody>
                    <a:bodyPr/>
                    <a:lstStyle/>
                    <a:p>
                      <a:r>
                        <a:rPr sz="2025" b="0">
                          <a:solidFill>
                            <a:srgbClr val="152B29"/>
                          </a:solidFill>
                          <a:latin typeface="Arial"/>
                          <a:ea typeface="Arial"/>
                          <a:cs typeface="Arial"/>
                        </a:rPr>
                        <a:t>KazHydroMet PCP #31</a:t>
                      </a:r>
                    </a:p>
                    <a:p>
                      <a:r>
                        <a:rPr sz="2025" b="0">
                          <a:solidFill>
                            <a:srgbClr val="152B29"/>
                          </a:solidFill>
                          <a:latin typeface="Arial"/>
                          <a:ea typeface="Arial"/>
                          <a:cs typeface="Arial"/>
                        </a:rPr>
                        <a:t>kgmt_27</a:t>
                      </a:r>
                    </a:p>
                  </a:txBody>
                  <a:tcPr marL="133350" marR="133350" marT="95250" marB="95250">
                    <a:solidFill>
                      <a:srgbClr val="F0F4EF"/>
                    </a:solidFill>
                  </a:tcPr>
                </a:tc>
                <a:tc>
                  <a:txBody>
                    <a:bodyPr/>
                    <a:lstStyle/>
                    <a:p>
                      <a:r>
                        <a:rPr sz="2025" b="0">
                          <a:solidFill>
                            <a:srgbClr val="152B29"/>
                          </a:solidFill>
                          <a:latin typeface="Arial"/>
                          <a:ea typeface="Arial"/>
                          <a:cs typeface="Arial"/>
                        </a:rPr>
                        <a:t>From 26 Sep 2025</a:t>
                      </a:r>
                    </a:p>
                    <a:p>
                      <a:r>
                        <a:rPr sz="2025" b="0">
                          <a:solidFill>
                            <a:srgbClr val="152B29"/>
                          </a:solidFill>
                          <a:latin typeface="Arial"/>
                          <a:ea typeface="Arial"/>
                          <a:cs typeface="Arial"/>
                        </a:rPr>
                        <a:t>Snapshot ends 10 Oct 2026</a:t>
                      </a:r>
                    </a:p>
                  </a:txBody>
                  <a:tcPr marL="133350" marR="133350" marT="95250" marB="95250">
                    <a:solidFill>
                      <a:srgbClr val="F0F4EF"/>
                    </a:solidFill>
                  </a:tcPr>
                </a:tc>
              </a:tr>
            </a:tbl>
          </a:graphicData>
        </a:graphic>
      </p:graphicFrame>
      <p:sp>
        <p:nvSpPr>
          <p:cNvPr id="4" name="">
            <a:extLst xmlns:a="http://schemas.openxmlformats.org/drawingml/2006/main">
              <a:ext uri="{FF2B5EF4-FFF2-40B4-BE49-F238E27FC236}">
                <a16:creationId xmlns:a16="http://schemas.microsoft.com/office/drawing/2014/main" id="{A71206E4-2B6E-4A91-86F1-132679B9D9D0}"/>
              </a:ext>
            </a:extLst>
          </p:cNvPr>
          <p:cNvSpPr>
            <a:spLocks xmlns:a="http://schemas.openxmlformats.org/drawingml/2006/main" noGrp="1"/>
          </p:cNvSpPr>
          <p:nvPr/>
        </p:nvSpPr>
        <p:spPr>
          <a:xfrm xmlns:a="http://schemas.openxmlformats.org/drawingml/2006/main">
            <a:off x="628650" y="490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16657"/>
                </a:solidFill>
                <a:latin typeface="Arial"/>
                <a:ea typeface="Arial"/>
                <a:cs typeface="Arial"/>
              </a:defRPr>
            </a:defPPr>
          </a:lstStyle>
          <a:p xmlns:a="http://schemas.openxmlformats.org/drawingml/2006/main">
            <a:pPr>
              <a:defRPr sz="2325" b="1">
                <a:solidFill>
                  <a:srgbClr val="216657"/>
                </a:solidFill>
                <a:latin typeface="Arial"/>
                <a:ea typeface="Arial"/>
                <a:cs typeface="Arial"/>
              </a:defRPr>
            </a:pPr>
            <a:r>
              <a:rPr sz="2325" b="1">
                <a:solidFill>
                  <a:srgbClr val="216657"/>
                </a:solidFill>
                <a:latin typeface="Arial"/>
                <a:ea typeface="Arial"/>
                <a:cs typeface="Arial"/>
              </a:rPr>
              <a:t>PCP #31: 17,246 observed hours out of 26,281 grid hours</a:t>
            </a:r>
          </a:p>
        </p:txBody>
      </p:sp>
      <p:sp>
        <p:nvSpPr>
          <p:cNvPr id="5" name="">
            <a:extLst xmlns:a="http://schemas.openxmlformats.org/drawingml/2006/main">
              <a:ext uri="{FF2B5EF4-FFF2-40B4-BE49-F238E27FC236}">
                <a16:creationId xmlns:a16="http://schemas.microsoft.com/office/drawing/2014/main" id="{D6E9A07C-6EBC-4EE5-B205-50B38830C7E5}"/>
              </a:ext>
            </a:extLst>
          </p:cNvPr>
          <p:cNvSpPr>
            <a:spLocks xmlns:a="http://schemas.openxmlformats.org/drawingml/2006/main" noGrp="1"/>
          </p:cNvSpPr>
          <p:nvPr/>
        </p:nvSpPr>
        <p:spPr>
          <a:xfrm xmlns:a="http://schemas.openxmlformats.org/drawingml/2006/main">
            <a:off x="628650" y="56102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663"/>
                </a:solidFill>
                <a:latin typeface="Arial"/>
                <a:ea typeface="Arial"/>
                <a:cs typeface="Arial"/>
              </a:defRPr>
            </a:defPPr>
          </a:lstStyle>
          <a:p xmlns:a="http://schemas.openxmlformats.org/drawingml/2006/main">
            <a:pPr>
              <a:defRPr sz="1950" b="0">
                <a:solidFill>
                  <a:srgbClr val="546663"/>
                </a:solidFill>
                <a:latin typeface="Arial"/>
                <a:ea typeface="Arial"/>
                <a:cs typeface="Arial"/>
              </a:defRPr>
            </a:pPr>
            <a:r>
              <a:rPr sz="1950" b="0">
                <a:solidFill>
                  <a:srgbClr val="546663"/>
                </a:solidFill>
                <a:latin typeface="Arial"/>
                <a:ea typeface="Arial"/>
                <a:cs typeface="Arial"/>
              </a:rPr>
              <a:t>65.6% coverage across the training grid</a:t>
            </a:r>
          </a:p>
        </p:txBody>
      </p:sp>
    </p:spTree>
    <p:extLst>
      <p:ext uri="{BB962C8B-B14F-4D97-AF65-F5344CB8AC3E}">
        <p14:creationId xmlns:p14="http://schemas.microsoft.com/office/powerpoint/2010/main" val="1487630385"/>
      </p:ext>
    </p:extLst>
  </p:cSld>
</p:sld>
</file>

<file path=ppt/slides/slide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56EE221-1F49-434A-A755-24345BD83B81}"/>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Causal features and missing data</a:t>
            </a:r>
          </a:p>
        </p:txBody>
      </p:sp>
      <p:sp>
        <p:nvSpPr>
          <p:cNvPr id="2" name="">
            <a:extLst xmlns:a="http://schemas.openxmlformats.org/drawingml/2006/main">
              <a:ext uri="{FF2B5EF4-FFF2-40B4-BE49-F238E27FC236}">
                <a16:creationId xmlns:a16="http://schemas.microsoft.com/office/drawing/2014/main" id="{8683C549-CC0B-4F95-B4AA-74A8A5FB490F}"/>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B8EBB73-503C-4E54-B51C-A6F613E83205}"/>
              </a:ext>
            </a:extLst>
          </p:cNvPr>
          <p:cNvSpPr>
            <a:spLocks xmlns:a="http://schemas.openxmlformats.org/drawingml/2006/main" noGrp="1"/>
          </p:cNvSpPr>
          <p:nvPr/>
        </p:nvSpPr>
        <p:spPr>
          <a:xfrm xmlns:a="http://schemas.openxmlformats.org/drawingml/2006/main">
            <a:off x="628650" y="17335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History</a:t>
            </a:r>
          </a:p>
        </p:txBody>
      </p:sp>
      <p:sp>
        <p:nvSpPr>
          <p:cNvPr id="4" name="">
            <a:extLst xmlns:a="http://schemas.openxmlformats.org/drawingml/2006/main">
              <a:ext uri="{FF2B5EF4-FFF2-40B4-BE49-F238E27FC236}">
                <a16:creationId xmlns:a16="http://schemas.microsoft.com/office/drawing/2014/main" id="{F70A4746-4ADD-4650-B666-FD189EB1FA97}"/>
              </a:ext>
            </a:extLst>
          </p:cNvPr>
          <p:cNvSpPr>
            <a:spLocks xmlns:a="http://schemas.openxmlformats.org/drawingml/2006/main" noGrp="1"/>
          </p:cNvSpPr>
          <p:nvPr/>
        </p:nvSpPr>
        <p:spPr>
          <a:xfrm xmlns:a="http://schemas.openxmlformats.org/drawingml/2006/main">
            <a:off x="3381375" y="17335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Current value and lags from 1 to 168 hours</a:t>
            </a:r>
          </a:p>
        </p:txBody>
      </p:sp>
      <p:sp>
        <p:nvSpPr>
          <p:cNvPr id="5" name="">
            <a:extLst xmlns:a="http://schemas.openxmlformats.org/drawingml/2006/main">
              <a:ext uri="{FF2B5EF4-FFF2-40B4-BE49-F238E27FC236}">
                <a16:creationId xmlns:a16="http://schemas.microsoft.com/office/drawing/2014/main" id="{C9EAD7BD-221C-47D0-9891-E9A8394764DB}"/>
              </a:ext>
            </a:extLst>
          </p:cNvPr>
          <p:cNvSpPr>
            <a:spLocks xmlns:a="http://schemas.openxmlformats.org/drawingml/2006/main" noGrp="1"/>
          </p:cNvSpPr>
          <p:nvPr/>
        </p:nvSpPr>
        <p:spPr>
          <a:xfrm xmlns:a="http://schemas.openxmlformats.org/drawingml/2006/main">
            <a:off x="628650" y="27813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Rolling context</a:t>
            </a:r>
          </a:p>
        </p:txBody>
      </p:sp>
      <p:sp>
        <p:nvSpPr>
          <p:cNvPr id="6" name="">
            <a:extLst xmlns:a="http://schemas.openxmlformats.org/drawingml/2006/main">
              <a:ext uri="{FF2B5EF4-FFF2-40B4-BE49-F238E27FC236}">
                <a16:creationId xmlns:a16="http://schemas.microsoft.com/office/drawing/2014/main" id="{721B8CD1-90B4-431C-A270-8C13EEC751B4}"/>
              </a:ext>
            </a:extLst>
          </p:cNvPr>
          <p:cNvSpPr>
            <a:spLocks xmlns:a="http://schemas.openxmlformats.org/drawingml/2006/main" noGrp="1"/>
          </p:cNvSpPr>
          <p:nvPr/>
        </p:nvSpPr>
        <p:spPr>
          <a:xfrm xmlns:a="http://schemas.openxmlformats.org/drawingml/2006/main">
            <a:off x="3381375" y="27813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Means, variability and counts over 6 to 168 hours</a:t>
            </a:r>
          </a:p>
        </p:txBody>
      </p:sp>
      <p:sp>
        <p:nvSpPr>
          <p:cNvPr id="7" name="">
            <a:extLst xmlns:a="http://schemas.openxmlformats.org/drawingml/2006/main">
              <a:ext uri="{FF2B5EF4-FFF2-40B4-BE49-F238E27FC236}">
                <a16:creationId xmlns:a16="http://schemas.microsoft.com/office/drawing/2014/main" id="{BC46762B-B427-4417-AFF5-4C01E5CE5F64}"/>
              </a:ext>
            </a:extLst>
          </p:cNvPr>
          <p:cNvSpPr>
            <a:spLocks xmlns:a="http://schemas.openxmlformats.org/drawingml/2006/main" noGrp="1"/>
          </p:cNvSpPr>
          <p:nvPr/>
        </p:nvSpPr>
        <p:spPr>
          <a:xfrm xmlns:a="http://schemas.openxmlformats.org/drawingml/2006/main">
            <a:off x="628650" y="38290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Calendar</a:t>
            </a:r>
          </a:p>
        </p:txBody>
      </p:sp>
      <p:sp>
        <p:nvSpPr>
          <p:cNvPr id="8" name="">
            <a:extLst xmlns:a="http://schemas.openxmlformats.org/drawingml/2006/main">
              <a:ext uri="{FF2B5EF4-FFF2-40B4-BE49-F238E27FC236}">
                <a16:creationId xmlns:a16="http://schemas.microsoft.com/office/drawing/2014/main" id="{AA1EDDFB-2EC9-4483-92AB-3306BD64A9F8}"/>
              </a:ext>
            </a:extLst>
          </p:cNvPr>
          <p:cNvSpPr>
            <a:spLocks xmlns:a="http://schemas.openxmlformats.org/drawingml/2006/main" noGrp="1"/>
          </p:cNvSpPr>
          <p:nvPr/>
        </p:nvSpPr>
        <p:spPr>
          <a:xfrm xmlns:a="http://schemas.openxmlformats.org/drawingml/2006/main">
            <a:off x="3381375" y="38290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Cyclic hour, weekday and day-of-year features</a:t>
            </a:r>
          </a:p>
        </p:txBody>
      </p:sp>
      <p:sp>
        <p:nvSpPr>
          <p:cNvPr id="9" name="">
            <a:extLst xmlns:a="http://schemas.openxmlformats.org/drawingml/2006/main">
              <a:ext uri="{FF2B5EF4-FFF2-40B4-BE49-F238E27FC236}">
                <a16:creationId xmlns:a16="http://schemas.microsoft.com/office/drawing/2014/main" id="{AED8B951-80E7-463E-8768-A2FC6DD35075}"/>
              </a:ext>
            </a:extLst>
          </p:cNvPr>
          <p:cNvSpPr>
            <a:spLocks xmlns:a="http://schemas.openxmlformats.org/drawingml/2006/main" noGrp="1"/>
          </p:cNvSpPr>
          <p:nvPr/>
        </p:nvSpPr>
        <p:spPr>
          <a:xfrm xmlns:a="http://schemas.openxmlformats.org/drawingml/2006/main">
            <a:off x="628650" y="4933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16657"/>
                </a:solidFill>
                <a:latin typeface="Arial"/>
                <a:ea typeface="Arial"/>
                <a:cs typeface="Arial"/>
              </a:defRPr>
            </a:defPPr>
          </a:lstStyle>
          <a:p xmlns:a="http://schemas.openxmlformats.org/drawingml/2006/main">
            <a:pPr>
              <a:defRPr sz="2250" b="1">
                <a:solidFill>
                  <a:srgbClr val="216657"/>
                </a:solidFill>
                <a:latin typeface="Arial"/>
                <a:ea typeface="Arial"/>
                <a:cs typeface="Arial"/>
              </a:defRPr>
            </a:pPr>
            <a:r>
              <a:rPr sz="2250" b="1">
                <a:solidFill>
                  <a:srgbClr val="216657"/>
                </a:solidFill>
                <a:latin typeface="Arial"/>
                <a:ea typeface="Arial"/>
                <a:cs typeface="Arial"/>
              </a:rPr>
              <a:t>28 inputs; median imputation with missingness indicators</a:t>
            </a:r>
          </a:p>
        </p:txBody>
      </p:sp>
      <p:sp>
        <p:nvSpPr>
          <p:cNvPr id="10" name="">
            <a:extLst xmlns:a="http://schemas.openxmlformats.org/drawingml/2006/main">
              <a:ext uri="{FF2B5EF4-FFF2-40B4-BE49-F238E27FC236}">
                <a16:creationId xmlns:a16="http://schemas.microsoft.com/office/drawing/2014/main" id="{0D1C0FAD-1143-460C-BAEE-E376CF73D135}"/>
              </a:ext>
            </a:extLst>
          </p:cNvPr>
          <p:cNvSpPr>
            <a:spLocks xmlns:a="http://schemas.openxmlformats.org/drawingml/2006/main" noGrp="1"/>
          </p:cNvSpPr>
          <p:nvPr/>
        </p:nvSpPr>
        <p:spPr>
          <a:xfrm xmlns:a="http://schemas.openxmlformats.org/drawingml/2006/main">
            <a:off x="628650" y="57245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663"/>
                </a:solidFill>
                <a:latin typeface="Arial"/>
                <a:ea typeface="Arial"/>
                <a:cs typeface="Arial"/>
              </a:defRPr>
            </a:defPPr>
          </a:lstStyle>
          <a:p xmlns:a="http://schemas.openxmlformats.org/drawingml/2006/main">
            <a:pPr>
              <a:defRPr sz="1950" b="0">
                <a:solidFill>
                  <a:srgbClr val="546663"/>
                </a:solidFill>
                <a:latin typeface="Arial"/>
                <a:ea typeface="Arial"/>
                <a:cs typeface="Arial"/>
              </a:defRPr>
            </a:pPr>
            <a:r>
              <a:rPr sz="1950" b="0">
                <a:solidFill>
                  <a:srgbClr val="546663"/>
                </a:solidFill>
                <a:latin typeface="Arial"/>
                <a:ea typeface="Arial"/>
                <a:cs typeface="Arial"/>
              </a:rPr>
              <a:t>Observed targets only; at least 18 of the latest 24 hours required</a:t>
            </a:r>
          </a:p>
        </p:txBody>
      </p:sp>
    </p:spTree>
    <p:extLst>
      <p:ext uri="{BB962C8B-B14F-4D97-AF65-F5344CB8AC3E}">
        <p14:creationId xmlns:p14="http://schemas.microsoft.com/office/powerpoint/2010/main" val="279841850"/>
      </p:ext>
    </p:extLst>
  </p:cSld>
</p:sld>
</file>

<file path=ppt/slides/slide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4FD7A5-3DA1-484F-9D7F-987A372B70CB}"/>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Chronological validation and independent testing</a:t>
            </a:r>
          </a:p>
        </p:txBody>
      </p:sp>
      <p:sp>
        <p:nvSpPr>
          <p:cNvPr id="2" name="">
            <a:extLst xmlns:a="http://schemas.openxmlformats.org/drawingml/2006/main">
              <a:ext uri="{FF2B5EF4-FFF2-40B4-BE49-F238E27FC236}">
                <a16:creationId xmlns:a16="http://schemas.microsoft.com/office/drawing/2014/main" id="{972FBCF0-0030-4D16-87B9-12762DA86778}"/>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D827B6A2-F8E3-41B2-AC0D-A6F2C7E5390A}"/>
              </a:ext>
            </a:extLst>
          </p:cNvPr>
          <p:cNvGraphicFramePr/>
          <p:nvPr/>
        </p:nvGraphicFramePr>
        <p:xfrm>
          <a:off xmlns:a="http://schemas.openxmlformats.org/drawingml/2006/main" x="609600" y="1685925"/>
          <a:ext xmlns:a="http://schemas.openxmlformats.org/drawingml/2006/main" cx="10953750" cy="2952750"/>
        </p:xfrm>
        <a:graphic xmlns:a="http://schemas.openxmlformats.org/drawingml/2006/main">
          <a:graphicData uri="http://schemas.openxmlformats.org/drawingml/2006/table">
            <a:tbl>
              <a:tblPr/>
              <a:tblGrid>
                <a:gridCol w="2619375"/>
                <a:gridCol w="8334375"/>
              </a:tblGrid>
              <a:tr h="738188">
                <a:tc>
                  <a:txBody>
                    <a:bodyPr/>
                    <a:lstStyle/>
                    <a:p>
                      <a:r>
                        <a:rPr sz="2025" b="1">
                          <a:solidFill>
                            <a:srgbClr val="FFFFFF"/>
                          </a:solidFill>
                          <a:latin typeface="Arial"/>
                          <a:ea typeface="Arial"/>
                          <a:cs typeface="Arial"/>
                        </a:rPr>
                        <a:t>Stage</a:t>
                      </a:r>
                    </a:p>
                  </a:txBody>
                  <a:tcPr marL="133350" marR="133350" marT="95250" marB="95250">
                    <a:solidFill>
                      <a:srgbClr val="216657"/>
                    </a:solidFill>
                  </a:tcPr>
                </a:tc>
                <a:tc>
                  <a:txBody>
                    <a:bodyPr/>
                    <a:lstStyle/>
                    <a:p>
                      <a:r>
                        <a:rPr sz="2025" b="1">
                          <a:solidFill>
                            <a:srgbClr val="FFFFFF"/>
                          </a:solidFill>
                          <a:latin typeface="Arial"/>
                          <a:ea typeface="Arial"/>
                          <a:cs typeface="Arial"/>
                        </a:rPr>
                        <a:t>PCP #31 rule</a:t>
                      </a:r>
                    </a:p>
                  </a:txBody>
                  <a:tcPr marL="133350" marR="133350" marT="95250" marB="95250">
                    <a:solidFill>
                      <a:srgbClr val="216657"/>
                    </a:solidFill>
                  </a:tcPr>
                </a:tc>
              </a:tr>
              <a:tr h="738188">
                <a:tc>
                  <a:txBody>
                    <a:bodyPr/>
                    <a:lstStyle/>
                    <a:p>
                      <a:r>
                        <a:rPr sz="2025" b="0">
                          <a:solidFill>
                            <a:srgbClr val="152B29"/>
                          </a:solidFill>
                          <a:latin typeface="Arial"/>
                          <a:ea typeface="Arial"/>
                          <a:cs typeface="Arial"/>
                        </a:rPr>
                        <a:t>Training</a:t>
                      </a:r>
                    </a:p>
                  </a:txBody>
                  <a:tcPr marL="133350" marR="133350" marT="95250" marB="95250">
                    <a:solidFill>
                      <a:srgbClr val="FFFFFF"/>
                    </a:solidFill>
                  </a:tcPr>
                </a:tc>
                <a:tc>
                  <a:txBody>
                    <a:bodyPr/>
                    <a:lstStyle/>
                    <a:p>
                      <a:r>
                        <a:rPr sz="2025" b="0">
                          <a:solidFill>
                            <a:srgbClr val="152B29"/>
                          </a:solidFill>
                          <a:latin typeface="Arial"/>
                          <a:ea typeface="Arial"/>
                          <a:cs typeface="Arial"/>
                        </a:rPr>
                        <a:t>Targets before 6 Jun 2025, 05:00 UTC</a:t>
                      </a:r>
                    </a:p>
                  </a:txBody>
                  <a:tcPr marL="133350" marR="133350" marT="95250" marB="95250">
                    <a:solidFill>
                      <a:srgbClr val="FFFFFF"/>
                    </a:solidFill>
                  </a:tcPr>
                </a:tc>
              </a:tr>
              <a:tr h="738188">
                <a:tc>
                  <a:txBody>
                    <a:bodyPr/>
                    <a:lstStyle/>
                    <a:p>
                      <a:r>
                        <a:rPr sz="2025" b="0">
                          <a:solidFill>
                            <a:srgbClr val="152B29"/>
                          </a:solidFill>
                          <a:latin typeface="Arial"/>
                          <a:ea typeface="Arial"/>
                          <a:cs typeface="Arial"/>
                        </a:rPr>
                        <a:t>Validation</a:t>
                      </a:r>
                    </a:p>
                  </a:txBody>
                  <a:tcPr marL="133350" marR="133350" marT="95250" marB="95250">
                    <a:solidFill>
                      <a:srgbClr val="F0F4EF"/>
                    </a:solidFill>
                  </a:tcPr>
                </a:tc>
                <a:tc>
                  <a:txBody>
                    <a:bodyPr/>
                    <a:lstStyle/>
                    <a:p>
                      <a:r>
                        <a:rPr sz="2025" b="0">
                          <a:solidFill>
                            <a:srgbClr val="152B29"/>
                          </a:solidFill>
                          <a:latin typeface="Arial"/>
                          <a:ea typeface="Arial"/>
                          <a:cs typeface="Arial"/>
                        </a:rPr>
                        <a:t>Origins from 6 Jun; targets before 26 Sep 2025</a:t>
                      </a:r>
                    </a:p>
                  </a:txBody>
                  <a:tcPr marL="133350" marR="133350" marT="95250" marB="95250">
                    <a:solidFill>
                      <a:srgbClr val="F0F4EF"/>
                    </a:solidFill>
                  </a:tcPr>
                </a:tc>
              </a:tr>
              <a:tr h="738188">
                <a:tc>
                  <a:txBody>
                    <a:bodyPr/>
                    <a:lstStyle/>
                    <a:p>
                      <a:r>
                        <a:rPr sz="2025" b="0">
                          <a:solidFill>
                            <a:srgbClr val="152B29"/>
                          </a:solidFill>
                          <a:latin typeface="Arial"/>
                          <a:ea typeface="Arial"/>
                          <a:cs typeface="Arial"/>
                        </a:rPr>
                        <a:t>Testing</a:t>
                      </a:r>
                    </a:p>
                  </a:txBody>
                  <a:tcPr marL="133350" marR="133350" marT="95250" marB="95250">
                    <a:solidFill>
                      <a:srgbClr val="FFFFFF"/>
                    </a:solidFill>
                  </a:tcPr>
                </a:tc>
                <a:tc>
                  <a:txBody>
                    <a:bodyPr/>
                    <a:lstStyle/>
                    <a:p>
                      <a:r>
                        <a:rPr sz="2025" b="0">
                          <a:solidFill>
                            <a:srgbClr val="152B29"/>
                          </a:solidFill>
                          <a:latin typeface="Arial"/>
                          <a:ea typeface="Arial"/>
                          <a:cs typeface="Arial"/>
                        </a:rPr>
                        <a:t>Origins from 26 Sep 2025, 06:00 UTC</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8888A80-9910-4E06-9C66-A59D86F5EACC}"/>
              </a:ext>
            </a:extLst>
          </p:cNvPr>
          <p:cNvSpPr>
            <a:spLocks xmlns:a="http://schemas.openxmlformats.org/drawingml/2006/main" noGrp="1"/>
          </p:cNvSpPr>
          <p:nvPr/>
        </p:nvSpPr>
        <p:spPr>
          <a:xfrm xmlns:a="http://schemas.openxmlformats.org/drawingml/2006/main">
            <a:off x="628650" y="50768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16657"/>
                </a:solidFill>
                <a:latin typeface="Arial"/>
                <a:ea typeface="Arial"/>
                <a:cs typeface="Arial"/>
              </a:defRPr>
            </a:defPPr>
          </a:lstStyle>
          <a:p xmlns:a="http://schemas.openxmlformats.org/drawingml/2006/main">
            <a:pPr>
              <a:defRPr sz="2250" b="1">
                <a:solidFill>
                  <a:srgbClr val="216657"/>
                </a:solidFill>
                <a:latin typeface="Arial"/>
                <a:ea typeface="Arial"/>
                <a:cs typeface="Arial"/>
              </a:defRPr>
            </a:pPr>
            <a:r>
              <a:rPr sz="2250" b="1">
                <a:solidFill>
                  <a:srgbClr val="216657"/>
                </a:solidFill>
                <a:latin typeface="Arial"/>
                <a:ea typeface="Arial"/>
                <a:cs typeface="Arial"/>
              </a:rPr>
              <a:t>Validation chooses settings; the test set measures performance</a:t>
            </a:r>
          </a:p>
        </p:txBody>
      </p:sp>
      <p:sp>
        <p:nvSpPr>
          <p:cNvPr id="5" name="">
            <a:extLst xmlns:a="http://schemas.openxmlformats.org/drawingml/2006/main">
              <a:ext uri="{FF2B5EF4-FFF2-40B4-BE49-F238E27FC236}">
                <a16:creationId xmlns:a16="http://schemas.microsoft.com/office/drawing/2014/main" id="{92EC6A04-E8AB-4C7F-B42E-18EAA315F4FC}"/>
              </a:ext>
            </a:extLst>
          </p:cNvPr>
          <p:cNvSpPr>
            <a:spLocks xmlns:a="http://schemas.openxmlformats.org/drawingml/2006/main" noGrp="1"/>
          </p:cNvSpPr>
          <p:nvPr/>
        </p:nvSpPr>
        <p:spPr>
          <a:xfrm xmlns:a="http://schemas.openxmlformats.org/drawingml/2006/main">
            <a:off x="628650" y="57435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46663"/>
                </a:solidFill>
                <a:latin typeface="Arial"/>
                <a:ea typeface="Arial"/>
                <a:cs typeface="Arial"/>
              </a:defRPr>
            </a:defPPr>
          </a:lstStyle>
          <a:p xmlns:a="http://schemas.openxmlformats.org/drawingml/2006/main">
            <a:pPr>
              <a:defRPr sz="1950" b="0">
                <a:solidFill>
                  <a:srgbClr val="546663"/>
                </a:solidFill>
                <a:latin typeface="Arial"/>
                <a:ea typeface="Arial"/>
                <a:cs typeface="Arial"/>
              </a:defRPr>
            </a:pPr>
            <a:r>
              <a:rPr sz="1950" b="0">
                <a:solidFill>
                  <a:srgbClr val="546663"/>
                </a:solidFill>
                <a:latin typeface="Arial"/>
                <a:ea typeface="Arial"/>
                <a:cs typeface="Arial"/>
              </a:rPr>
              <a:t>Evaluation and deployment refits remain separate</a:t>
            </a:r>
          </a:p>
        </p:txBody>
      </p:sp>
    </p:spTree>
    <p:extLst>
      <p:ext uri="{BB962C8B-B14F-4D97-AF65-F5344CB8AC3E}">
        <p14:creationId xmlns:p14="http://schemas.microsoft.com/office/powerpoint/2010/main" val="1450028092"/>
      </p:ext>
    </p:extLst>
  </p:cSld>
</p:sld>
</file>

<file path=ppt/slides/slide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ACFCF7-5A99-435B-BED6-32F33BEF6196}"/>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Models and comparison baselines</a:t>
            </a:r>
          </a:p>
        </p:txBody>
      </p:sp>
      <p:sp>
        <p:nvSpPr>
          <p:cNvPr id="2" name="">
            <a:extLst xmlns:a="http://schemas.openxmlformats.org/drawingml/2006/main">
              <a:ext uri="{FF2B5EF4-FFF2-40B4-BE49-F238E27FC236}">
                <a16:creationId xmlns:a16="http://schemas.microsoft.com/office/drawing/2014/main" id="{B0543E31-8D88-4C04-9155-50EDD7FB661A}"/>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9974631-BA35-4E2E-8911-A55004445175}"/>
              </a:ext>
            </a:extLst>
          </p:cNvPr>
          <p:cNvSpPr>
            <a:spLocks xmlns:a="http://schemas.openxmlformats.org/drawingml/2006/main" noGrp="1"/>
          </p:cNvSpPr>
          <p:nvPr/>
        </p:nvSpPr>
        <p:spPr>
          <a:xfrm xmlns:a="http://schemas.openxmlformats.org/drawingml/2006/main">
            <a:off x="628650" y="17145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Ridge</a:t>
            </a:r>
          </a:p>
        </p:txBody>
      </p:sp>
      <p:sp>
        <p:nvSpPr>
          <p:cNvPr id="4" name="">
            <a:extLst xmlns:a="http://schemas.openxmlformats.org/drawingml/2006/main">
              <a:ext uri="{FF2B5EF4-FFF2-40B4-BE49-F238E27FC236}">
                <a16:creationId xmlns:a16="http://schemas.microsoft.com/office/drawing/2014/main" id="{F8F51960-7565-4E50-81E6-AC6A392597B7}"/>
              </a:ext>
            </a:extLst>
          </p:cNvPr>
          <p:cNvSpPr>
            <a:spLocks xmlns:a="http://schemas.openxmlformats.org/drawingml/2006/main" noGrp="1"/>
          </p:cNvSpPr>
          <p:nvPr/>
        </p:nvSpPr>
        <p:spPr>
          <a:xfrm xmlns:a="http://schemas.openxmlformats.org/drawingml/2006/main">
            <a:off x="3381375" y="17145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Linear regression with regularization and scaling</a:t>
            </a:r>
          </a:p>
        </p:txBody>
      </p:sp>
      <p:sp>
        <p:nvSpPr>
          <p:cNvPr id="5" name="">
            <a:extLst xmlns:a="http://schemas.openxmlformats.org/drawingml/2006/main">
              <a:ext uri="{FF2B5EF4-FFF2-40B4-BE49-F238E27FC236}">
                <a16:creationId xmlns:a16="http://schemas.microsoft.com/office/drawing/2014/main" id="{2CBBF55D-29F4-482E-8AE6-33534B100124}"/>
              </a:ext>
            </a:extLst>
          </p:cNvPr>
          <p:cNvSpPr>
            <a:spLocks xmlns:a="http://schemas.openxmlformats.org/drawingml/2006/main" noGrp="1"/>
          </p:cNvSpPr>
          <p:nvPr/>
        </p:nvSpPr>
        <p:spPr>
          <a:xfrm xmlns:a="http://schemas.openxmlformats.org/drawingml/2006/main">
            <a:off x="628650" y="26860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XGBoost</a:t>
            </a:r>
          </a:p>
        </p:txBody>
      </p:sp>
      <p:sp>
        <p:nvSpPr>
          <p:cNvPr id="6" name="">
            <a:extLst xmlns:a="http://schemas.openxmlformats.org/drawingml/2006/main">
              <a:ext uri="{FF2B5EF4-FFF2-40B4-BE49-F238E27FC236}">
                <a16:creationId xmlns:a16="http://schemas.microsoft.com/office/drawing/2014/main" id="{14EDE2E7-C8E5-4B08-8B30-A345A24FC862}"/>
              </a:ext>
            </a:extLst>
          </p:cNvPr>
          <p:cNvSpPr>
            <a:spLocks xmlns:a="http://schemas.openxmlformats.org/drawingml/2006/main" noGrp="1"/>
          </p:cNvSpPr>
          <p:nvPr/>
        </p:nvSpPr>
        <p:spPr>
          <a:xfrm xmlns:a="http://schemas.openxmlformats.org/drawingml/2006/main">
            <a:off x="3381375" y="26860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Two configurations; selection by validation MAE</a:t>
            </a:r>
          </a:p>
        </p:txBody>
      </p:sp>
      <p:sp>
        <p:nvSpPr>
          <p:cNvPr id="7" name="">
            <a:extLst xmlns:a="http://schemas.openxmlformats.org/drawingml/2006/main">
              <a:ext uri="{FF2B5EF4-FFF2-40B4-BE49-F238E27FC236}">
                <a16:creationId xmlns:a16="http://schemas.microsoft.com/office/drawing/2014/main" id="{FEB170A6-2DBB-40E6-A986-852DD8012785}"/>
              </a:ext>
            </a:extLst>
          </p:cNvPr>
          <p:cNvSpPr>
            <a:spLocks xmlns:a="http://schemas.openxmlformats.org/drawingml/2006/main" noGrp="1"/>
          </p:cNvSpPr>
          <p:nvPr/>
        </p:nvSpPr>
        <p:spPr>
          <a:xfrm xmlns:a="http://schemas.openxmlformats.org/drawingml/2006/main">
            <a:off x="628650" y="36576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Persistence</a:t>
            </a:r>
          </a:p>
        </p:txBody>
      </p:sp>
      <p:sp>
        <p:nvSpPr>
          <p:cNvPr id="8" name="">
            <a:extLst xmlns:a="http://schemas.openxmlformats.org/drawingml/2006/main">
              <a:ext uri="{FF2B5EF4-FFF2-40B4-BE49-F238E27FC236}">
                <a16:creationId xmlns:a16="http://schemas.microsoft.com/office/drawing/2014/main" id="{5639D826-F14B-4A98-BA98-00883ED2A48F}"/>
              </a:ext>
            </a:extLst>
          </p:cNvPr>
          <p:cNvSpPr>
            <a:spLocks xmlns:a="http://schemas.openxmlformats.org/drawingml/2006/main" noGrp="1"/>
          </p:cNvSpPr>
          <p:nvPr/>
        </p:nvSpPr>
        <p:spPr>
          <a:xfrm xmlns:a="http://schemas.openxmlformats.org/drawingml/2006/main">
            <a:off x="3381375" y="36576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Repeat the latest observed concentration</a:t>
            </a:r>
          </a:p>
        </p:txBody>
      </p:sp>
      <p:sp>
        <p:nvSpPr>
          <p:cNvPr id="9" name="">
            <a:extLst xmlns:a="http://schemas.openxmlformats.org/drawingml/2006/main">
              <a:ext uri="{FF2B5EF4-FFF2-40B4-BE49-F238E27FC236}">
                <a16:creationId xmlns:a16="http://schemas.microsoft.com/office/drawing/2014/main" id="{94A7A503-43EF-4F5F-98A6-AD84476B5531}"/>
              </a:ext>
            </a:extLst>
          </p:cNvPr>
          <p:cNvSpPr>
            <a:spLocks xmlns:a="http://schemas.openxmlformats.org/drawingml/2006/main" noGrp="1"/>
          </p:cNvSpPr>
          <p:nvPr/>
        </p:nvSpPr>
        <p:spPr>
          <a:xfrm xmlns:a="http://schemas.openxmlformats.org/drawingml/2006/main">
            <a:off x="628650" y="46291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Daily seasonal</a:t>
            </a:r>
          </a:p>
        </p:txBody>
      </p:sp>
      <p:sp>
        <p:nvSpPr>
          <p:cNvPr id="10" name="">
            <a:extLst xmlns:a="http://schemas.openxmlformats.org/drawingml/2006/main">
              <a:ext uri="{FF2B5EF4-FFF2-40B4-BE49-F238E27FC236}">
                <a16:creationId xmlns:a16="http://schemas.microsoft.com/office/drawing/2014/main" id="{0D871081-A1C3-4959-ABA2-33614FE75F3E}"/>
              </a:ext>
            </a:extLst>
          </p:cNvPr>
          <p:cNvSpPr>
            <a:spLocks xmlns:a="http://schemas.openxmlformats.org/drawingml/2006/main" noGrp="1"/>
          </p:cNvSpPr>
          <p:nvPr/>
        </p:nvSpPr>
        <p:spPr>
          <a:xfrm xmlns:a="http://schemas.openxmlformats.org/drawingml/2006/main">
            <a:off x="3381375" y="46291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Use the same target hour from the previous day</a:t>
            </a:r>
          </a:p>
        </p:txBody>
      </p:sp>
      <p:sp>
        <p:nvSpPr>
          <p:cNvPr id="11" name="">
            <a:extLst xmlns:a="http://schemas.openxmlformats.org/drawingml/2006/main">
              <a:ext uri="{FF2B5EF4-FFF2-40B4-BE49-F238E27FC236}">
                <a16:creationId xmlns:a16="http://schemas.microsoft.com/office/drawing/2014/main" id="{E7C61AF5-C911-4F9C-A9AA-8883176D2976}"/>
              </a:ext>
            </a:extLst>
          </p:cNvPr>
          <p:cNvSpPr>
            <a:spLocks xmlns:a="http://schemas.openxmlformats.org/drawingml/2006/main" noGrp="1"/>
          </p:cNvSpPr>
          <p:nvPr/>
        </p:nvSpPr>
        <p:spPr>
          <a:xfrm xmlns:a="http://schemas.openxmlformats.org/drawingml/2006/main">
            <a:off x="628650" y="5734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46663"/>
                </a:solidFill>
                <a:latin typeface="Arial"/>
                <a:ea typeface="Arial"/>
                <a:cs typeface="Arial"/>
              </a:defRPr>
            </a:defPPr>
          </a:lstStyle>
          <a:p xmlns:a="http://schemas.openxmlformats.org/drawingml/2006/main">
            <a:pPr>
              <a:defRPr sz="1875" b="0">
                <a:solidFill>
                  <a:srgbClr val="546663"/>
                </a:solidFill>
                <a:latin typeface="Arial"/>
                <a:ea typeface="Arial"/>
                <a:cs typeface="Arial"/>
              </a:defRPr>
            </a:pPr>
            <a:r>
              <a:rPr sz="1875" b="0">
                <a:solidFill>
                  <a:srgbClr val="546663"/>
                </a:solidFill>
                <a:latin typeface="Arial"/>
                <a:ea typeface="Arial"/>
                <a:cs typeface="Arial"/>
              </a:rPr>
              <a:t>At 24 hours, persistence and the daily seasonal baseline coincide</a:t>
            </a:r>
          </a:p>
        </p:txBody>
      </p:sp>
    </p:spTree>
    <p:extLst>
      <p:ext uri="{BB962C8B-B14F-4D97-AF65-F5344CB8AC3E}">
        <p14:creationId xmlns:p14="http://schemas.microsoft.com/office/powerpoint/2010/main" val="9957772"/>
      </p:ext>
    </p:extLst>
  </p:cSld>
</p:sld>
</file>

<file path=ppt/slides/slide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FF2BE8-7366-4177-AD3C-72940AAF9FCA}"/>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Six-hour forecasts improve most over persistence</a:t>
            </a:r>
          </a:p>
        </p:txBody>
      </p:sp>
      <p:sp>
        <p:nvSpPr>
          <p:cNvPr id="2" name="">
            <a:extLst xmlns:a="http://schemas.openxmlformats.org/drawingml/2006/main">
              <a:ext uri="{FF2B5EF4-FFF2-40B4-BE49-F238E27FC236}">
                <a16:creationId xmlns:a16="http://schemas.microsoft.com/office/drawing/2014/main" id="{48C6636E-DB26-4D85-9E14-6158976C62B5}"/>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07</a:t>
            </a:r>
          </a:p>
        </p:txBody>
      </p:sp>
      <p:graphicFrame>
        <p:nvGraphicFramePr>
          <p:cNvPr id="3" name="Chart">
            <a:extLst xmlns:a="http://schemas.openxmlformats.org/drawingml/2006/main">
              <a:ext uri="{FF2B5EF4-FFF2-40B4-BE49-F238E27FC236}">
                <a16:creationId xmlns:a16="http://schemas.microsoft.com/office/drawing/2014/main" id="{0C494DF3-835E-43E0-800C-897654CFE694}"/>
              </a:ext>
            </a:extLst>
          </p:cNvPr>
          <p:cNvGraphicFramePr/>
          <p:nvPr/>
        </p:nvGraphicFramePr>
        <p:xfrm>
          <a:off xmlns:a="http://schemas.openxmlformats.org/drawingml/2006/main" x="609600" y="1676400"/>
          <a:ext xmlns:a="http://schemas.openxmlformats.org/drawingml/2006/main" cx="7905750" cy="3810000"/>
        </p:xfrm>
        <a:graphic xmlns:a="http://schemas.openxmlformats.org/drawingml/2006/main">
          <a:graphicData uri="http://schemas.openxmlformats.org/drawingml/2006/chart">
            <c:chart xmlns:r="http://schemas.openxmlformats.org/officeDocument/2006/relationships" xmlns:c="http://schemas.openxmlformats.org/drawingml/2006/chart" r:id="R857faa8b71db439f"/>
          </a:graphicData>
        </a:graphic>
      </p:graphicFrame>
      <p:sp>
        <p:nvSpPr>
          <p:cNvPr id="4" name="">
            <a:extLst xmlns:a="http://schemas.openxmlformats.org/drawingml/2006/main">
              <a:ext uri="{FF2B5EF4-FFF2-40B4-BE49-F238E27FC236}">
                <a16:creationId xmlns:a16="http://schemas.microsoft.com/office/drawing/2014/main" id="{E6A46D3B-AA02-4634-9FC9-383222CB27A0}"/>
              </a:ext>
            </a:extLst>
          </p:cNvPr>
          <p:cNvSpPr>
            <a:spLocks xmlns:a="http://schemas.openxmlformats.org/drawingml/2006/main" noGrp="1"/>
          </p:cNvSpPr>
          <p:nvPr/>
        </p:nvSpPr>
        <p:spPr>
          <a:xfrm xmlns:a="http://schemas.openxmlformats.org/drawingml/2006/main">
            <a:off x="8982075" y="21717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216657"/>
                </a:solidFill>
                <a:latin typeface="Arial"/>
                <a:ea typeface="Arial"/>
                <a:cs typeface="Arial"/>
              </a:defRPr>
            </a:defPPr>
          </a:lstStyle>
          <a:p xmlns:a="http://schemas.openxmlformats.org/drawingml/2006/main">
            <a:pPr>
              <a:defRPr sz="4200" b="1">
                <a:solidFill>
                  <a:srgbClr val="216657"/>
                </a:solidFill>
                <a:latin typeface="Arial"/>
                <a:ea typeface="Arial"/>
                <a:cs typeface="Arial"/>
              </a:defRPr>
            </a:pPr>
            <a:r>
              <a:rPr sz="4200" b="1">
                <a:solidFill>
                  <a:srgbClr val="216657"/>
                </a:solidFill>
                <a:latin typeface="Arial"/>
                <a:ea typeface="Arial"/>
                <a:cs typeface="Arial"/>
              </a:rPr>
              <a:t>31.0%</a:t>
            </a:r>
          </a:p>
        </p:txBody>
      </p:sp>
      <p:sp>
        <p:nvSpPr>
          <p:cNvPr id="5" name="">
            <a:extLst xmlns:a="http://schemas.openxmlformats.org/drawingml/2006/main">
              <a:ext uri="{FF2B5EF4-FFF2-40B4-BE49-F238E27FC236}">
                <a16:creationId xmlns:a16="http://schemas.microsoft.com/office/drawing/2014/main" id="{33B196D9-F86A-44BF-8A94-E930720B3ECE}"/>
              </a:ext>
            </a:extLst>
          </p:cNvPr>
          <p:cNvSpPr>
            <a:spLocks xmlns:a="http://schemas.openxmlformats.org/drawingml/2006/main" noGrp="1"/>
          </p:cNvSpPr>
          <p:nvPr/>
        </p:nvSpPr>
        <p:spPr>
          <a:xfrm xmlns:a="http://schemas.openxmlformats.org/drawingml/2006/main">
            <a:off x="8991600" y="3152775"/>
            <a:ext cx="247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B29"/>
                </a:solidFill>
                <a:latin typeface="Arial"/>
                <a:ea typeface="Arial"/>
                <a:cs typeface="Arial"/>
              </a:defRPr>
            </a:defPPr>
          </a:lstStyle>
          <a:p xmlns:a="http://schemas.openxmlformats.org/drawingml/2006/main">
            <a:pPr>
              <a:defRPr sz="2250" b="0">
                <a:solidFill>
                  <a:srgbClr val="152B29"/>
                </a:solidFill>
                <a:latin typeface="Arial"/>
                <a:ea typeface="Arial"/>
                <a:cs typeface="Arial"/>
              </a:defRPr>
            </a:pPr>
            <a:r>
              <a:rPr sz="2250" b="0">
                <a:solidFill>
                  <a:srgbClr val="152B29"/>
                </a:solidFill>
                <a:latin typeface="Arial"/>
                <a:ea typeface="Arial"/>
                <a:cs typeface="Arial"/>
              </a:rPr>
              <a:t>lower MAE</a:t>
            </a:r>
          </a:p>
          <a:p xmlns:a="http://schemas.openxmlformats.org/drawingml/2006/main">
            <a:pPr>
              <a:defRPr sz="2250" b="0">
                <a:solidFill>
                  <a:srgbClr val="152B29"/>
                </a:solidFill>
                <a:latin typeface="Arial"/>
                <a:ea typeface="Arial"/>
                <a:cs typeface="Arial"/>
              </a:defRPr>
            </a:pPr>
            <a:r>
              <a:rPr sz="2250" b="0">
                <a:solidFill>
                  <a:srgbClr val="152B29"/>
                </a:solidFill>
                <a:latin typeface="Arial"/>
                <a:ea typeface="Arial"/>
                <a:cs typeface="Arial"/>
              </a:rPr>
              <a:t>at six hours</a:t>
            </a:r>
          </a:p>
        </p:txBody>
      </p:sp>
      <p:sp>
        <p:nvSpPr>
          <p:cNvPr id="6" name="">
            <a:extLst xmlns:a="http://schemas.openxmlformats.org/drawingml/2006/main">
              <a:ext uri="{FF2B5EF4-FFF2-40B4-BE49-F238E27FC236}">
                <a16:creationId xmlns:a16="http://schemas.microsoft.com/office/drawing/2014/main" id="{4F4D875E-CC74-48E9-94D9-2A814C9356B8}"/>
              </a:ext>
            </a:extLst>
          </p:cNvPr>
          <p:cNvSpPr>
            <a:spLocks xmlns:a="http://schemas.openxmlformats.org/drawingml/2006/main" noGrp="1"/>
          </p:cNvSpPr>
          <p:nvPr/>
        </p:nvSpPr>
        <p:spPr>
          <a:xfrm xmlns:a="http://schemas.openxmlformats.org/drawingml/2006/main">
            <a:off x="628650" y="58197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46663"/>
                </a:solidFill>
                <a:latin typeface="Arial"/>
                <a:ea typeface="Arial"/>
                <a:cs typeface="Arial"/>
              </a:defRPr>
            </a:defPPr>
          </a:lstStyle>
          <a:p xmlns:a="http://schemas.openxmlformats.org/drawingml/2006/main">
            <a:pPr>
              <a:defRPr sz="1725" b="0">
                <a:solidFill>
                  <a:srgbClr val="546663"/>
                </a:solidFill>
                <a:latin typeface="Arial"/>
                <a:ea typeface="Arial"/>
                <a:cs typeface="Arial"/>
              </a:defRPr>
            </a:pPr>
            <a:r>
              <a:rPr sz="1725" b="0">
                <a:solidFill>
                  <a:srgbClr val="546663"/>
                </a:solidFill>
                <a:latin typeface="Arial"/>
                <a:ea typeface="Arial"/>
                <a:cs typeface="Arial"/>
              </a:rPr>
              <a:t>MAE in µg/m³. Lower is better. Test rows: 2,491 / 2,485 / 2,401</a:t>
            </a:r>
          </a:p>
        </p:txBody>
      </p:sp>
    </p:spTree>
    <p:extLst>
      <p:ext uri="{BB962C8B-B14F-4D97-AF65-F5344CB8AC3E}">
        <p14:creationId xmlns:p14="http://schemas.microsoft.com/office/powerpoint/2010/main" val="1649245544"/>
      </p:ext>
    </p:extLst>
  </p:cSld>
</p:sld>
</file>

<file path=ppt/slides/slide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7440F12-A422-440E-9235-0FE2F733D4B3}"/>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Historical results support the six-hour finding</a:t>
            </a:r>
          </a:p>
        </p:txBody>
      </p:sp>
      <p:sp>
        <p:nvSpPr>
          <p:cNvPr id="2" name="">
            <a:extLst xmlns:a="http://schemas.openxmlformats.org/drawingml/2006/main">
              <a:ext uri="{FF2B5EF4-FFF2-40B4-BE49-F238E27FC236}">
                <a16:creationId xmlns:a16="http://schemas.microsoft.com/office/drawing/2014/main" id="{F9469968-44B5-410E-8739-9D1013860AD5}"/>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08</a:t>
            </a:r>
          </a:p>
        </p:txBody>
      </p:sp>
      <p:graphicFrame>
        <p:nvGraphicFramePr>
          <p:cNvPr id="3" name="Chart">
            <a:extLst xmlns:a="http://schemas.openxmlformats.org/drawingml/2006/main">
              <a:ext uri="{FF2B5EF4-FFF2-40B4-BE49-F238E27FC236}">
                <a16:creationId xmlns:a16="http://schemas.microsoft.com/office/drawing/2014/main" id="{5C6DB787-4440-47F8-8935-90BCCBF095B3}"/>
              </a:ext>
            </a:extLst>
          </p:cNvPr>
          <p:cNvGraphicFramePr/>
          <p:nvPr/>
        </p:nvGraphicFramePr>
        <p:xfrm>
          <a:off xmlns:a="http://schemas.openxmlformats.org/drawingml/2006/main" x="609600" y="1714500"/>
          <a:ext xmlns:a="http://schemas.openxmlformats.org/drawingml/2006/main" cx="7810500" cy="3743325"/>
        </p:xfrm>
        <a:graphic xmlns:a="http://schemas.openxmlformats.org/drawingml/2006/main">
          <a:graphicData uri="http://schemas.openxmlformats.org/drawingml/2006/chart">
            <c:chart xmlns:r="http://schemas.openxmlformats.org/officeDocument/2006/relationships" xmlns:c="http://schemas.openxmlformats.org/drawingml/2006/chart" r:id="Rfb98a5c8ca454529"/>
          </a:graphicData>
        </a:graphic>
      </p:graphicFrame>
      <p:sp>
        <p:nvSpPr>
          <p:cNvPr id="4" name="">
            <a:extLst xmlns:a="http://schemas.openxmlformats.org/drawingml/2006/main">
              <a:ext uri="{FF2B5EF4-FFF2-40B4-BE49-F238E27FC236}">
                <a16:creationId xmlns:a16="http://schemas.microsoft.com/office/drawing/2014/main" id="{BEB1D802-3A03-4232-8FA2-61D0A29BD865}"/>
              </a:ext>
            </a:extLst>
          </p:cNvPr>
          <p:cNvSpPr>
            <a:spLocks xmlns:a="http://schemas.openxmlformats.org/drawingml/2006/main" noGrp="1"/>
          </p:cNvSpPr>
          <p:nvPr/>
        </p:nvSpPr>
        <p:spPr>
          <a:xfrm xmlns:a="http://schemas.openxmlformats.org/drawingml/2006/main">
            <a:off x="8829675" y="2200275"/>
            <a:ext cx="2781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216657"/>
                </a:solidFill>
                <a:latin typeface="Arial"/>
                <a:ea typeface="Arial"/>
                <a:cs typeface="Arial"/>
              </a:defRPr>
            </a:defPPr>
          </a:lstStyle>
          <a:p xmlns:a="http://schemas.openxmlformats.org/drawingml/2006/main">
            <a:pPr>
              <a:defRPr sz="3975" b="1">
                <a:solidFill>
                  <a:srgbClr val="216657"/>
                </a:solidFill>
                <a:latin typeface="Arial"/>
                <a:ea typeface="Arial"/>
                <a:cs typeface="Arial"/>
              </a:defRPr>
            </a:pPr>
            <a:r>
              <a:rPr sz="3975" b="1">
                <a:solidFill>
                  <a:srgbClr val="216657"/>
                </a:solidFill>
                <a:latin typeface="Arial"/>
                <a:ea typeface="Arial"/>
                <a:cs typeface="Arial"/>
              </a:rPr>
              <a:t>22.2%</a:t>
            </a:r>
          </a:p>
        </p:txBody>
      </p:sp>
      <p:sp>
        <p:nvSpPr>
          <p:cNvPr id="5" name="">
            <a:extLst xmlns:a="http://schemas.openxmlformats.org/drawingml/2006/main">
              <a:ext uri="{FF2B5EF4-FFF2-40B4-BE49-F238E27FC236}">
                <a16:creationId xmlns:a16="http://schemas.microsoft.com/office/drawing/2014/main" id="{71DD51F5-5EA1-495C-BF4D-33C5F7F4A8EC}"/>
              </a:ext>
            </a:extLst>
          </p:cNvPr>
          <p:cNvSpPr>
            <a:spLocks xmlns:a="http://schemas.openxmlformats.org/drawingml/2006/main" noGrp="1"/>
          </p:cNvSpPr>
          <p:nvPr/>
        </p:nvSpPr>
        <p:spPr>
          <a:xfrm xmlns:a="http://schemas.openxmlformats.org/drawingml/2006/main">
            <a:off x="8829675" y="3086100"/>
            <a:ext cx="266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lower six-hour MAE</a:t>
            </a:r>
          </a:p>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on the 2024 test set</a:t>
            </a:r>
          </a:p>
        </p:txBody>
      </p:sp>
      <p:sp>
        <p:nvSpPr>
          <p:cNvPr id="6" name="">
            <a:extLst xmlns:a="http://schemas.openxmlformats.org/drawingml/2006/main">
              <a:ext uri="{FF2B5EF4-FFF2-40B4-BE49-F238E27FC236}">
                <a16:creationId xmlns:a16="http://schemas.microsoft.com/office/drawing/2014/main" id="{0171D904-8C6A-446A-B9A1-DC125DBD4B65}"/>
              </a:ext>
            </a:extLst>
          </p:cNvPr>
          <p:cNvSpPr>
            <a:spLocks xmlns:a="http://schemas.openxmlformats.org/drawingml/2006/main" noGrp="1"/>
          </p:cNvSpPr>
          <p:nvPr/>
        </p:nvSpPr>
        <p:spPr>
          <a:xfrm xmlns:a="http://schemas.openxmlformats.org/drawingml/2006/main">
            <a:off x="628650" y="58197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46663"/>
                </a:solidFill>
                <a:latin typeface="Arial"/>
                <a:ea typeface="Arial"/>
                <a:cs typeface="Arial"/>
              </a:defRPr>
            </a:defPPr>
          </a:lstStyle>
          <a:p xmlns:a="http://schemas.openxmlformats.org/drawingml/2006/main">
            <a:pPr>
              <a:defRPr sz="1800" b="0">
                <a:solidFill>
                  <a:srgbClr val="546663"/>
                </a:solidFill>
                <a:latin typeface="Arial"/>
                <a:ea typeface="Arial"/>
                <a:cs typeface="Arial"/>
              </a:defRPr>
            </a:pPr>
            <a:r>
              <a:rPr sz="1800" b="0">
                <a:solidFill>
                  <a:srgbClr val="546663"/>
                </a:solidFill>
                <a:latin typeface="Arial"/>
                <a:ea typeface="Arial"/>
                <a:cs typeface="Arial"/>
              </a:rPr>
              <a:t>Calendar ablation: six-hour validation MAE 13.97 to 11.66 µg/m³</a:t>
            </a:r>
          </a:p>
        </p:txBody>
      </p:sp>
    </p:spTree>
    <p:extLst>
      <p:ext uri="{BB962C8B-B14F-4D97-AF65-F5344CB8AC3E}">
        <p14:creationId xmlns:p14="http://schemas.microsoft.com/office/powerpoint/2010/main" val="1348947812"/>
      </p:ext>
    </p:extLst>
  </p:cSld>
</p:sld>
</file>

<file path=ppt/slides/slide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CF204A-D044-4BB2-ACB0-DAF8CCF7F726}"/>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Average gains conceal important model failures</a:t>
            </a:r>
          </a:p>
        </p:txBody>
      </p:sp>
      <p:sp>
        <p:nvSpPr>
          <p:cNvPr id="2" name="">
            <a:extLst xmlns:a="http://schemas.openxmlformats.org/drawingml/2006/main">
              <a:ext uri="{FF2B5EF4-FFF2-40B4-BE49-F238E27FC236}">
                <a16:creationId xmlns:a16="http://schemas.microsoft.com/office/drawing/2014/main" id="{94E542E2-7AD8-4E15-B1A8-A786EFFDC7EC}"/>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64AD4AC2-2EC9-42FD-9B82-29C08AD813D5}"/>
              </a:ext>
            </a:extLst>
          </p:cNvPr>
          <p:cNvGraphicFramePr/>
          <p:nvPr/>
        </p:nvGraphicFramePr>
        <p:xfrm>
          <a:off xmlns:a="http://schemas.openxmlformats.org/drawingml/2006/main" x="609600" y="1695450"/>
          <a:ext xmlns:a="http://schemas.openxmlformats.org/drawingml/2006/main" cx="10953750" cy="2952750"/>
        </p:xfrm>
        <a:graphic xmlns:a="http://schemas.openxmlformats.org/drawingml/2006/main">
          <a:graphicData uri="http://schemas.openxmlformats.org/drawingml/2006/table">
            <a:tbl>
              <a:tblPr/>
              <a:tblGrid>
                <a:gridCol w="5524500"/>
                <a:gridCol w="2714625"/>
                <a:gridCol w="2714625"/>
              </a:tblGrid>
              <a:tr h="738188">
                <a:tc>
                  <a:txBody>
                    <a:bodyPr/>
                    <a:lstStyle/>
                    <a:p>
                      <a:r>
                        <a:rPr sz="2025" b="1">
                          <a:solidFill>
                            <a:srgbClr val="FFFFFF"/>
                          </a:solidFill>
                          <a:latin typeface="Arial"/>
                          <a:ea typeface="Arial"/>
                          <a:cs typeface="Arial"/>
                        </a:rPr>
                        <a:t>24-hour subgroup</a:t>
                      </a:r>
                    </a:p>
                  </a:txBody>
                  <a:tcPr marL="133350" marR="133350" marT="95250" marB="95250">
                    <a:solidFill>
                      <a:srgbClr val="216657"/>
                    </a:solidFill>
                  </a:tcPr>
                </a:tc>
                <a:tc>
                  <a:txBody>
                    <a:bodyPr/>
                    <a:lstStyle/>
                    <a:p>
                      <a:r>
                        <a:rPr sz="2025" b="1">
                          <a:solidFill>
                            <a:srgbClr val="FFFFFF"/>
                          </a:solidFill>
                          <a:latin typeface="Arial"/>
                          <a:ea typeface="Arial"/>
                          <a:cs typeface="Arial"/>
                        </a:rPr>
                        <a:t>XGBoost MAE</a:t>
                      </a:r>
                    </a:p>
                  </a:txBody>
                  <a:tcPr marL="133350" marR="133350" marT="95250" marB="95250">
                    <a:solidFill>
                      <a:srgbClr val="216657"/>
                    </a:solidFill>
                  </a:tcPr>
                </a:tc>
                <a:tc>
                  <a:txBody>
                    <a:bodyPr/>
                    <a:lstStyle/>
                    <a:p>
                      <a:r>
                        <a:rPr sz="2025" b="1">
                          <a:solidFill>
                            <a:srgbClr val="FFFFFF"/>
                          </a:solidFill>
                          <a:latin typeface="Arial"/>
                          <a:ea typeface="Arial"/>
                          <a:cs typeface="Arial"/>
                        </a:rPr>
                        <a:t>Persistence MAE</a:t>
                      </a:r>
                    </a:p>
                  </a:txBody>
                  <a:tcPr marL="133350" marR="133350" marT="95250" marB="95250">
                    <a:solidFill>
                      <a:srgbClr val="216657"/>
                    </a:solidFill>
                  </a:tcPr>
                </a:tc>
              </a:tr>
              <a:tr h="738188">
                <a:tc>
                  <a:txBody>
                    <a:bodyPr/>
                    <a:lstStyle/>
                    <a:p>
                      <a:r>
                        <a:rPr sz="2025" b="0">
                          <a:solidFill>
                            <a:srgbClr val="152B29"/>
                          </a:solidFill>
                          <a:latin typeface="Arial"/>
                          <a:ea typeface="Arial"/>
                          <a:cs typeface="Arial"/>
                        </a:rPr>
                        <a:t>US Embassy peaks, n = 360</a:t>
                      </a:r>
                    </a:p>
                  </a:txBody>
                  <a:tcPr marL="133350" marR="133350" marT="95250" marB="95250">
                    <a:solidFill>
                      <a:srgbClr val="FFFFFF"/>
                    </a:solidFill>
                  </a:tcPr>
                </a:tc>
                <a:tc>
                  <a:txBody>
                    <a:bodyPr/>
                    <a:lstStyle/>
                    <a:p>
                      <a:r>
                        <a:rPr sz="2025" b="0">
                          <a:solidFill>
                            <a:srgbClr val="152B29"/>
                          </a:solidFill>
                          <a:latin typeface="Arial"/>
                          <a:ea typeface="Arial"/>
                          <a:cs typeface="Arial"/>
                        </a:rPr>
                        <a:t>54.62</a:t>
                      </a:r>
                    </a:p>
                  </a:txBody>
                  <a:tcPr marL="133350" marR="133350" marT="95250" marB="95250">
                    <a:solidFill>
                      <a:srgbClr val="FFFFFF"/>
                    </a:solidFill>
                  </a:tcPr>
                </a:tc>
                <a:tc>
                  <a:txBody>
                    <a:bodyPr/>
                    <a:lstStyle/>
                    <a:p>
                      <a:r>
                        <a:rPr sz="2025" b="0">
                          <a:solidFill>
                            <a:srgbClr val="152B29"/>
                          </a:solidFill>
                          <a:latin typeface="Arial"/>
                          <a:ea typeface="Arial"/>
                          <a:cs typeface="Arial"/>
                        </a:rPr>
                        <a:t>47.98</a:t>
                      </a:r>
                    </a:p>
                  </a:txBody>
                  <a:tcPr marL="133350" marR="133350" marT="95250" marB="95250">
                    <a:solidFill>
                      <a:srgbClr val="FFFFFF"/>
                    </a:solidFill>
                  </a:tcPr>
                </a:tc>
              </a:tr>
              <a:tr h="738188">
                <a:tc>
                  <a:txBody>
                    <a:bodyPr/>
                    <a:lstStyle/>
                    <a:p>
                      <a:r>
                        <a:rPr sz="2025" b="0">
                          <a:solidFill>
                            <a:srgbClr val="152B29"/>
                          </a:solidFill>
                          <a:latin typeface="Arial"/>
                          <a:ea typeface="Arial"/>
                          <a:cs typeface="Arial"/>
                        </a:rPr>
                        <a:t>PCP #31 sparse week, n = 138</a:t>
                      </a:r>
                    </a:p>
                  </a:txBody>
                  <a:tcPr marL="133350" marR="133350" marT="95250" marB="95250">
                    <a:solidFill>
                      <a:srgbClr val="F0F4EF"/>
                    </a:solidFill>
                  </a:tcPr>
                </a:tc>
                <a:tc>
                  <a:txBody>
                    <a:bodyPr/>
                    <a:lstStyle/>
                    <a:p>
                      <a:r>
                        <a:rPr sz="2025" b="0">
                          <a:solidFill>
                            <a:srgbClr val="152B29"/>
                          </a:solidFill>
                          <a:latin typeface="Arial"/>
                          <a:ea typeface="Arial"/>
                          <a:cs typeface="Arial"/>
                        </a:rPr>
                        <a:t>5.17</a:t>
                      </a:r>
                    </a:p>
                  </a:txBody>
                  <a:tcPr marL="133350" marR="133350" marT="95250" marB="95250">
                    <a:solidFill>
                      <a:srgbClr val="F0F4EF"/>
                    </a:solidFill>
                  </a:tcPr>
                </a:tc>
                <a:tc>
                  <a:txBody>
                    <a:bodyPr/>
                    <a:lstStyle/>
                    <a:p>
                      <a:r>
                        <a:rPr sz="2025" b="0">
                          <a:solidFill>
                            <a:srgbClr val="152B29"/>
                          </a:solidFill>
                          <a:latin typeface="Arial"/>
                          <a:ea typeface="Arial"/>
                          <a:cs typeface="Arial"/>
                        </a:rPr>
                        <a:t>2.44</a:t>
                      </a:r>
                    </a:p>
                  </a:txBody>
                  <a:tcPr marL="133350" marR="133350" marT="95250" marB="95250">
                    <a:solidFill>
                      <a:srgbClr val="F0F4EF"/>
                    </a:solidFill>
                  </a:tcPr>
                </a:tc>
              </a:tr>
              <a:tr h="738188">
                <a:tc>
                  <a:txBody>
                    <a:bodyPr/>
                    <a:lstStyle/>
                    <a:p>
                      <a:r>
                        <a:rPr sz="2025" b="0">
                          <a:solidFill>
                            <a:srgbClr val="152B29"/>
                          </a:solidFill>
                          <a:latin typeface="Arial"/>
                          <a:ea typeface="Arial"/>
                          <a:cs typeface="Arial"/>
                        </a:rPr>
                        <a:t>PCP #31 spring, n = 334</a:t>
                      </a:r>
                    </a:p>
                  </a:txBody>
                  <a:tcPr marL="133350" marR="133350" marT="95250" marB="95250">
                    <a:solidFill>
                      <a:srgbClr val="FFFFFF"/>
                    </a:solidFill>
                  </a:tcPr>
                </a:tc>
                <a:tc>
                  <a:txBody>
                    <a:bodyPr/>
                    <a:lstStyle/>
                    <a:p>
                      <a:r>
                        <a:rPr sz="2025" b="0">
                          <a:solidFill>
                            <a:srgbClr val="152B29"/>
                          </a:solidFill>
                          <a:latin typeface="Arial"/>
                          <a:ea typeface="Arial"/>
                          <a:cs typeface="Arial"/>
                        </a:rPr>
                        <a:t>4.30</a:t>
                      </a:r>
                    </a:p>
                  </a:txBody>
                  <a:tcPr marL="133350" marR="133350" marT="95250" marB="95250">
                    <a:solidFill>
                      <a:srgbClr val="FFFFFF"/>
                    </a:solidFill>
                  </a:tcPr>
                </a:tc>
                <a:tc>
                  <a:txBody>
                    <a:bodyPr/>
                    <a:lstStyle/>
                    <a:p>
                      <a:r>
                        <a:rPr sz="2025" b="0">
                          <a:solidFill>
                            <a:srgbClr val="152B29"/>
                          </a:solidFill>
                          <a:latin typeface="Arial"/>
                          <a:ea typeface="Arial"/>
                          <a:cs typeface="Arial"/>
                        </a:rPr>
                        <a:t>3.05</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3B422ED-F78D-4871-8E80-5DE96195A0BE}"/>
              </a:ext>
            </a:extLst>
          </p:cNvPr>
          <p:cNvSpPr>
            <a:spLocks xmlns:a="http://schemas.openxmlformats.org/drawingml/2006/main" noGrp="1"/>
          </p:cNvSpPr>
          <p:nvPr/>
        </p:nvSpPr>
        <p:spPr>
          <a:xfrm xmlns:a="http://schemas.openxmlformats.org/drawingml/2006/main">
            <a:off x="628650" y="5153025"/>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F6B39"/>
                </a:solidFill>
                <a:latin typeface="Arial"/>
                <a:ea typeface="Arial"/>
                <a:cs typeface="Arial"/>
              </a:defRPr>
            </a:defPPr>
          </a:lstStyle>
          <a:p xmlns:a="http://schemas.openxmlformats.org/drawingml/2006/main">
            <a:pPr>
              <a:defRPr sz="2475" b="1">
                <a:solidFill>
                  <a:srgbClr val="AF6B39"/>
                </a:solidFill>
                <a:latin typeface="Arial"/>
                <a:ea typeface="Arial"/>
                <a:cs typeface="Arial"/>
              </a:defRPr>
            </a:pPr>
            <a:r>
              <a:rPr sz="2475" b="1">
                <a:solidFill>
                  <a:srgbClr val="AF6B39"/>
                </a:solidFill>
                <a:latin typeface="Arial"/>
                <a:ea typeface="Arial"/>
                <a:cs typeface="Arial"/>
              </a:rPr>
              <a:t>PCP #31 peak bias: −20.56 µg/m³</a:t>
            </a:r>
          </a:p>
        </p:txBody>
      </p:sp>
      <p:sp>
        <p:nvSpPr>
          <p:cNvPr id="5" name="">
            <a:extLst xmlns:a="http://schemas.openxmlformats.org/drawingml/2006/main">
              <a:ext uri="{FF2B5EF4-FFF2-40B4-BE49-F238E27FC236}">
                <a16:creationId xmlns:a16="http://schemas.microsoft.com/office/drawing/2014/main" id="{AA56AF0B-1330-4BD4-9D2D-56110BE36993}"/>
              </a:ext>
            </a:extLst>
          </p:cNvPr>
          <p:cNvSpPr>
            <a:spLocks xmlns:a="http://schemas.openxmlformats.org/drawingml/2006/main" noGrp="1"/>
          </p:cNvSpPr>
          <p:nvPr/>
        </p:nvSpPr>
        <p:spPr>
          <a:xfrm xmlns:a="http://schemas.openxmlformats.org/drawingml/2006/main">
            <a:off x="628650" y="579120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46663"/>
                </a:solidFill>
                <a:latin typeface="Arial"/>
                <a:ea typeface="Arial"/>
                <a:cs typeface="Arial"/>
              </a:defRPr>
            </a:defPPr>
          </a:lstStyle>
          <a:p xmlns:a="http://schemas.openxmlformats.org/drawingml/2006/main">
            <a:pPr>
              <a:defRPr sz="1800" b="0">
                <a:solidFill>
                  <a:srgbClr val="546663"/>
                </a:solidFill>
                <a:latin typeface="Arial"/>
                <a:ea typeface="Arial"/>
                <a:cs typeface="Arial"/>
              </a:defRPr>
            </a:pPr>
            <a:r>
              <a:rPr sz="1800" b="0">
                <a:solidFill>
                  <a:srgbClr val="546663"/>
                </a:solidFill>
                <a:latin typeface="Arial"/>
                <a:ea typeface="Arial"/>
                <a:cs typeface="Arial"/>
              </a:rPr>
              <a:t>Peak cutoffs use pre-test percentiles. They are statistical thresholds.</a:t>
            </a:r>
          </a:p>
        </p:txBody>
      </p:sp>
    </p:spTree>
    <p:extLst>
      <p:ext uri="{BB962C8B-B14F-4D97-AF65-F5344CB8AC3E}">
        <p14:creationId xmlns:p14="http://schemas.microsoft.com/office/powerpoint/2010/main" val="1232681206"/>
      </p:ext>
    </p:extLst>
  </p:cSld>
</p:sld>
</file>

<file path=ppt/slides/slide10.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3E798D-7B3D-414E-8D08-5F7AA74B411C}"/>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Uncertainty and limits of the test evidence</a:t>
            </a:r>
          </a:p>
        </p:txBody>
      </p:sp>
      <p:sp>
        <p:nvSpPr>
          <p:cNvPr id="2" name="">
            <a:extLst xmlns:a="http://schemas.openxmlformats.org/drawingml/2006/main">
              <a:ext uri="{FF2B5EF4-FFF2-40B4-BE49-F238E27FC236}">
                <a16:creationId xmlns:a16="http://schemas.microsoft.com/office/drawing/2014/main" id="{AE5B9BDA-922B-45FE-B7C1-85FCD356014D}"/>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8DF411C5-1C1F-4D63-9E44-06D59CEC1F99}"/>
              </a:ext>
            </a:extLst>
          </p:cNvPr>
          <p:cNvGraphicFramePr/>
          <p:nvPr/>
        </p:nvGraphicFramePr>
        <p:xfrm>
          <a:off xmlns:a="http://schemas.openxmlformats.org/drawingml/2006/main" x="609600" y="1638300"/>
          <a:ext xmlns:a="http://schemas.openxmlformats.org/drawingml/2006/main" cx="10953750" cy="2762250"/>
        </p:xfrm>
        <a:graphic xmlns:a="http://schemas.openxmlformats.org/drawingml/2006/main">
          <a:graphicData uri="http://schemas.openxmlformats.org/drawingml/2006/table">
            <a:tbl>
              <a:tblPr/>
              <a:tblGrid>
                <a:gridCol w="2286000"/>
                <a:gridCol w="4286250"/>
                <a:gridCol w="4381500"/>
              </a:tblGrid>
              <a:tr h="690563">
                <a:tc>
                  <a:txBody>
                    <a:bodyPr/>
                    <a:lstStyle/>
                    <a:p>
                      <a:r>
                        <a:rPr sz="2025" b="1">
                          <a:solidFill>
                            <a:srgbClr val="FFFFFF"/>
                          </a:solidFill>
                          <a:latin typeface="Arial"/>
                          <a:ea typeface="Arial"/>
                          <a:cs typeface="Arial"/>
                        </a:rPr>
                        <a:t>Horizon</a:t>
                      </a:r>
                    </a:p>
                  </a:txBody>
                  <a:tcPr marL="133350" marR="133350" marT="95250" marB="95250">
                    <a:solidFill>
                      <a:srgbClr val="216657"/>
                    </a:solidFill>
                  </a:tcPr>
                </a:tc>
                <a:tc>
                  <a:txBody>
                    <a:bodyPr/>
                    <a:lstStyle/>
                    <a:p>
                      <a:r>
                        <a:rPr sz="2025" b="1">
                          <a:solidFill>
                            <a:srgbClr val="FFFFFF"/>
                          </a:solidFill>
                          <a:latin typeface="Arial"/>
                          <a:ea typeface="Arial"/>
                          <a:cs typeface="Arial"/>
                        </a:rPr>
                        <a:t>MAE gain over persistence</a:t>
                      </a:r>
                    </a:p>
                  </a:txBody>
                  <a:tcPr marL="133350" marR="133350" marT="95250" marB="95250">
                    <a:solidFill>
                      <a:srgbClr val="216657"/>
                    </a:solidFill>
                  </a:tcPr>
                </a:tc>
                <a:tc>
                  <a:txBody>
                    <a:bodyPr/>
                    <a:lstStyle/>
                    <a:p>
                      <a:r>
                        <a:rPr sz="2025" b="1">
                          <a:solidFill>
                            <a:srgbClr val="FFFFFF"/>
                          </a:solidFill>
                          <a:latin typeface="Arial"/>
                          <a:ea typeface="Arial"/>
                          <a:cs typeface="Arial"/>
                        </a:rPr>
                        <a:t>Approximate 95% interval</a:t>
                      </a:r>
                    </a:p>
                  </a:txBody>
                  <a:tcPr marL="133350" marR="133350" marT="95250" marB="95250">
                    <a:solidFill>
                      <a:srgbClr val="216657"/>
                    </a:solidFill>
                  </a:tcPr>
                </a:tc>
              </a:tr>
              <a:tr h="690563">
                <a:tc>
                  <a:txBody>
                    <a:bodyPr/>
                    <a:lstStyle/>
                    <a:p>
                      <a:r>
                        <a:rPr sz="2025" b="0">
                          <a:solidFill>
                            <a:srgbClr val="152B29"/>
                          </a:solidFill>
                          <a:latin typeface="Arial"/>
                          <a:ea typeface="Arial"/>
                          <a:cs typeface="Arial"/>
                        </a:rPr>
                        <a:t>1 hour</a:t>
                      </a:r>
                    </a:p>
                  </a:txBody>
                  <a:tcPr marL="133350" marR="133350" marT="95250" marB="95250">
                    <a:solidFill>
                      <a:srgbClr val="FFFFFF"/>
                    </a:solidFill>
                  </a:tcPr>
                </a:tc>
                <a:tc>
                  <a:txBody>
                    <a:bodyPr/>
                    <a:lstStyle/>
                    <a:p>
                      <a:r>
                        <a:rPr sz="2025" b="0">
                          <a:solidFill>
                            <a:srgbClr val="152B29"/>
                          </a:solidFill>
                          <a:latin typeface="Arial"/>
                          <a:ea typeface="Arial"/>
                          <a:cs typeface="Arial"/>
                        </a:rPr>
                        <a:t>0.09</a:t>
                      </a:r>
                    </a:p>
                  </a:txBody>
                  <a:tcPr marL="133350" marR="133350" marT="95250" marB="95250">
                    <a:solidFill>
                      <a:srgbClr val="FFFFFF"/>
                    </a:solidFill>
                  </a:tcPr>
                </a:tc>
                <a:tc>
                  <a:txBody>
                    <a:bodyPr/>
                    <a:lstStyle/>
                    <a:p>
                      <a:r>
                        <a:rPr sz="2025" b="0">
                          <a:solidFill>
                            <a:srgbClr val="152B29"/>
                          </a:solidFill>
                          <a:latin typeface="Arial"/>
                          <a:ea typeface="Arial"/>
                          <a:cs typeface="Arial"/>
                        </a:rPr>
                        <a:t>−0.04 to 0.24</a:t>
                      </a:r>
                    </a:p>
                  </a:txBody>
                  <a:tcPr marL="133350" marR="133350" marT="95250" marB="95250">
                    <a:solidFill>
                      <a:srgbClr val="FFFFFF"/>
                    </a:solidFill>
                  </a:tcPr>
                </a:tc>
              </a:tr>
              <a:tr h="690563">
                <a:tc>
                  <a:txBody>
                    <a:bodyPr/>
                    <a:lstStyle/>
                    <a:p>
                      <a:r>
                        <a:rPr sz="2025" b="0">
                          <a:solidFill>
                            <a:srgbClr val="152B29"/>
                          </a:solidFill>
                          <a:latin typeface="Arial"/>
                          <a:ea typeface="Arial"/>
                          <a:cs typeface="Arial"/>
                        </a:rPr>
                        <a:t>6 hours</a:t>
                      </a:r>
                    </a:p>
                  </a:txBody>
                  <a:tcPr marL="133350" marR="133350" marT="95250" marB="95250">
                    <a:solidFill>
                      <a:srgbClr val="F0F4EF"/>
                    </a:solidFill>
                  </a:tcPr>
                </a:tc>
                <a:tc>
                  <a:txBody>
                    <a:bodyPr/>
                    <a:lstStyle/>
                    <a:p>
                      <a:r>
                        <a:rPr sz="2025" b="0">
                          <a:solidFill>
                            <a:srgbClr val="152B29"/>
                          </a:solidFill>
                          <a:latin typeface="Arial"/>
                          <a:ea typeface="Arial"/>
                          <a:cs typeface="Arial"/>
                        </a:rPr>
                        <a:t>2.85</a:t>
                      </a:r>
                    </a:p>
                  </a:txBody>
                  <a:tcPr marL="133350" marR="133350" marT="95250" marB="95250">
                    <a:solidFill>
                      <a:srgbClr val="F0F4EF"/>
                    </a:solidFill>
                  </a:tcPr>
                </a:tc>
                <a:tc>
                  <a:txBody>
                    <a:bodyPr/>
                    <a:lstStyle/>
                    <a:p>
                      <a:r>
                        <a:rPr sz="2025" b="0">
                          <a:solidFill>
                            <a:srgbClr val="152B29"/>
                          </a:solidFill>
                          <a:latin typeface="Arial"/>
                          <a:ea typeface="Arial"/>
                          <a:cs typeface="Arial"/>
                        </a:rPr>
                        <a:t>1.41 to 4.30</a:t>
                      </a:r>
                    </a:p>
                  </a:txBody>
                  <a:tcPr marL="133350" marR="133350" marT="95250" marB="95250">
                    <a:solidFill>
                      <a:srgbClr val="F0F4EF"/>
                    </a:solidFill>
                  </a:tcPr>
                </a:tc>
              </a:tr>
              <a:tr h="690563">
                <a:tc>
                  <a:txBody>
                    <a:bodyPr/>
                    <a:lstStyle/>
                    <a:p>
                      <a:r>
                        <a:rPr sz="2025" b="0">
                          <a:solidFill>
                            <a:srgbClr val="152B29"/>
                          </a:solidFill>
                          <a:latin typeface="Arial"/>
                          <a:ea typeface="Arial"/>
                          <a:cs typeface="Arial"/>
                        </a:rPr>
                        <a:t>24 hours</a:t>
                      </a:r>
                    </a:p>
                  </a:txBody>
                  <a:tcPr marL="133350" marR="133350" marT="95250" marB="95250">
                    <a:solidFill>
                      <a:srgbClr val="FFFFFF"/>
                    </a:solidFill>
                  </a:tcPr>
                </a:tc>
                <a:tc>
                  <a:txBody>
                    <a:bodyPr/>
                    <a:lstStyle/>
                    <a:p>
                      <a:r>
                        <a:rPr sz="2025" b="0">
                          <a:solidFill>
                            <a:srgbClr val="152B29"/>
                          </a:solidFill>
                          <a:latin typeface="Arial"/>
                          <a:ea typeface="Arial"/>
                          <a:cs typeface="Arial"/>
                        </a:rPr>
                        <a:t>0.86</a:t>
                      </a:r>
                    </a:p>
                  </a:txBody>
                  <a:tcPr marL="133350" marR="133350" marT="95250" marB="95250">
                    <a:solidFill>
                      <a:srgbClr val="FFFFFF"/>
                    </a:solidFill>
                  </a:tcPr>
                </a:tc>
                <a:tc>
                  <a:txBody>
                    <a:bodyPr/>
                    <a:lstStyle/>
                    <a:p>
                      <a:r>
                        <a:rPr sz="2025" b="0">
                          <a:solidFill>
                            <a:srgbClr val="152B29"/>
                          </a:solidFill>
                          <a:latin typeface="Arial"/>
                          <a:ea typeface="Arial"/>
                          <a:cs typeface="Arial"/>
                        </a:rPr>
                        <a:t>−0.04 to 1.64</a:t>
                      </a:r>
                    </a:p>
                  </a:txBody>
                  <a:tcPr marL="133350" marR="13335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F526EC2-3B27-4E4C-BB9B-3DF1717BC80F}"/>
              </a:ext>
            </a:extLst>
          </p:cNvPr>
          <p:cNvSpPr>
            <a:spLocks xmlns:a="http://schemas.openxmlformats.org/drawingml/2006/main" noGrp="1"/>
          </p:cNvSpPr>
          <p:nvPr/>
        </p:nvSpPr>
        <p:spPr>
          <a:xfrm xmlns:a="http://schemas.openxmlformats.org/drawingml/2006/main">
            <a:off x="628650" y="4848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AF6B39"/>
                </a:solidFill>
                <a:latin typeface="Arial"/>
                <a:ea typeface="Arial"/>
                <a:cs typeface="Arial"/>
              </a:defRPr>
            </a:defPPr>
          </a:lstStyle>
          <a:p xmlns:a="http://schemas.openxmlformats.org/drawingml/2006/main">
            <a:pPr>
              <a:defRPr sz="2250" b="1">
                <a:solidFill>
                  <a:srgbClr val="AF6B39"/>
                </a:solidFill>
                <a:latin typeface="Arial"/>
                <a:ea typeface="Arial"/>
                <a:cs typeface="Arial"/>
              </a:defRPr>
            </a:pPr>
            <a:r>
              <a:rPr sz="2250" b="1">
                <a:solidFill>
                  <a:srgbClr val="AF6B39"/>
                </a:solidFill>
                <a:latin typeface="Arial"/>
                <a:ea typeface="Arial"/>
                <a:cs typeface="Arial"/>
              </a:rPr>
              <a:t>Summer has no eligible test examples</a:t>
            </a:r>
          </a:p>
        </p:txBody>
      </p:sp>
      <p:sp>
        <p:nvSpPr>
          <p:cNvPr id="5" name="">
            <a:extLst xmlns:a="http://schemas.openxmlformats.org/drawingml/2006/main">
              <a:ext uri="{FF2B5EF4-FFF2-40B4-BE49-F238E27FC236}">
                <a16:creationId xmlns:a16="http://schemas.microsoft.com/office/drawing/2014/main" id="{F8185AFA-D2B4-487E-AC2A-F1623E9B7D61}"/>
              </a:ext>
            </a:extLst>
          </p:cNvPr>
          <p:cNvSpPr>
            <a:spLocks xmlns:a="http://schemas.openxmlformats.org/drawingml/2006/main" noGrp="1"/>
          </p:cNvSpPr>
          <p:nvPr/>
        </p:nvSpPr>
        <p:spPr>
          <a:xfrm xmlns:a="http://schemas.openxmlformats.org/drawingml/2006/main">
            <a:off x="628650" y="54673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B29"/>
                </a:solidFill>
                <a:latin typeface="Arial"/>
                <a:ea typeface="Arial"/>
                <a:cs typeface="Arial"/>
              </a:defRPr>
            </a:defPPr>
          </a:lstStyle>
          <a:p xmlns:a="http://schemas.openxmlformats.org/drawingml/2006/main">
            <a:pPr>
              <a:defRPr sz="2175" b="0">
                <a:solidFill>
                  <a:srgbClr val="152B29"/>
                </a:solidFill>
                <a:latin typeface="Arial"/>
                <a:ea typeface="Arial"/>
                <a:cs typeface="Arial"/>
              </a:defRPr>
            </a:pPr>
            <a:r>
              <a:rPr sz="2175" b="0">
                <a:solidFill>
                  <a:srgbClr val="152B29"/>
                </a:solidFill>
                <a:latin typeface="Arial"/>
                <a:ea typeface="Arial"/>
                <a:cs typeface="Arial"/>
              </a:rPr>
              <a:t>Recent next-day evidence contains only 3 examples</a:t>
            </a:r>
          </a:p>
        </p:txBody>
      </p:sp>
    </p:spTree>
    <p:extLst>
      <p:ext uri="{BB962C8B-B14F-4D97-AF65-F5344CB8AC3E}">
        <p14:creationId xmlns:p14="http://schemas.microsoft.com/office/powerpoint/2010/main" val="1099824816"/>
      </p:ext>
    </p:extLst>
  </p:cSld>
</p:sld>
</file>

<file path=ppt/slides/slide1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3E0853-284C-4991-9B4D-5CAE8BE9E9FD}"/>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Forecast application and timestamp transparency</a:t>
            </a:r>
          </a:p>
        </p:txBody>
      </p:sp>
      <p:sp>
        <p:nvSpPr>
          <p:cNvPr id="2" name="">
            <a:extLst xmlns:a="http://schemas.openxmlformats.org/drawingml/2006/main">
              <a:ext uri="{FF2B5EF4-FFF2-40B4-BE49-F238E27FC236}">
                <a16:creationId xmlns:a16="http://schemas.microsoft.com/office/drawing/2014/main" id="{78458659-3CB5-49F2-B400-4AEDB0CB247C}"/>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9C95D41A-6D5C-4FE7-99A6-C667878389B4}"/>
              </a:ext>
            </a:extLst>
          </p:cNvPr>
          <p:cNvPicPr>
            <a:picLocks xmlns:a="http://schemas.openxmlformats.org/drawingml/2006/main" noChangeAspect="1"/>
          </p:cNvPicPr>
          <p:nvPr/>
        </p:nvPicPr>
        <p:blipFill>
          <a:blip xmlns:r="http://schemas.openxmlformats.org/officeDocument/2006/relationships" xmlns:a="http://schemas.openxmlformats.org/drawingml/2006/main" r:embed="Re2ded207a5c6471e"/>
          <a:stretch xmlns:a="http://schemas.openxmlformats.org/drawingml/2006/main"/>
        </p:blipFill>
        <p:spPr>
          <a:xfrm xmlns:a="http://schemas.openxmlformats.org/drawingml/2006/main">
            <a:off x="609600" y="1725124"/>
            <a:ext cx="7953375" cy="416022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31FE5C-5C94-46C6-9C17-83F0BBF71F77}"/>
              </a:ext>
            </a:extLst>
          </p:cNvPr>
          <p:cNvSpPr>
            <a:spLocks xmlns:a="http://schemas.openxmlformats.org/drawingml/2006/main" noGrp="1"/>
          </p:cNvSpPr>
          <p:nvPr/>
        </p:nvSpPr>
        <p:spPr>
          <a:xfrm xmlns:a="http://schemas.openxmlformats.org/drawingml/2006/main">
            <a:off x="8896350" y="1876425"/>
            <a:ext cx="2571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React + TypeScript</a:t>
            </a:r>
          </a:p>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FastAPI + Python</a:t>
            </a:r>
          </a:p>
        </p:txBody>
      </p:sp>
      <p:sp>
        <p:nvSpPr>
          <p:cNvPr id="5" name="">
            <a:extLst xmlns:a="http://schemas.openxmlformats.org/drawingml/2006/main">
              <a:ext uri="{FF2B5EF4-FFF2-40B4-BE49-F238E27FC236}">
                <a16:creationId xmlns:a16="http://schemas.microsoft.com/office/drawing/2014/main" id="{4CF5097B-E80E-4A4D-8E5F-6AA42841DA43}"/>
              </a:ext>
            </a:extLst>
          </p:cNvPr>
          <p:cNvSpPr>
            <a:spLocks xmlns:a="http://schemas.openxmlformats.org/drawingml/2006/main" noGrp="1"/>
          </p:cNvSpPr>
          <p:nvPr/>
        </p:nvSpPr>
        <p:spPr>
          <a:xfrm xmlns:a="http://schemas.openxmlformats.org/drawingml/2006/main">
            <a:off x="8896350" y="3248025"/>
            <a:ext cx="26574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B29"/>
                </a:solidFill>
                <a:latin typeface="Arial"/>
                <a:ea typeface="Arial"/>
                <a:cs typeface="Arial"/>
              </a:defRPr>
            </a:defPPr>
          </a:lstStyle>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Latest measured hour</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Explicit target dates</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Coverage warnings</a:t>
            </a:r>
          </a:p>
        </p:txBody>
      </p:sp>
      <p:sp>
        <p:nvSpPr>
          <p:cNvPr id="6" name="">
            <a:extLst xmlns:a="http://schemas.openxmlformats.org/drawingml/2006/main">
              <a:ext uri="{FF2B5EF4-FFF2-40B4-BE49-F238E27FC236}">
                <a16:creationId xmlns:a16="http://schemas.microsoft.com/office/drawing/2014/main" id="{A6B49BCB-DEFB-4CF4-8DB1-52233287FAC2}"/>
              </a:ext>
            </a:extLst>
          </p:cNvPr>
          <p:cNvSpPr>
            <a:spLocks xmlns:a="http://schemas.openxmlformats.org/drawingml/2006/main" noGrp="1"/>
          </p:cNvSpPr>
          <p:nvPr/>
        </p:nvSpPr>
        <p:spPr>
          <a:xfrm xmlns:a="http://schemas.openxmlformats.org/drawingml/2006/main">
            <a:off x="628650" y="60864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46663"/>
                </a:solidFill>
                <a:latin typeface="Arial"/>
                <a:ea typeface="Arial"/>
                <a:cs typeface="Arial"/>
              </a:defRPr>
            </a:defPPr>
          </a:lstStyle>
          <a:p xmlns:a="http://schemas.openxmlformats.org/drawingml/2006/main">
            <a:pPr>
              <a:defRPr sz="1650" b="0">
                <a:solidFill>
                  <a:srgbClr val="546663"/>
                </a:solidFill>
                <a:latin typeface="Arial"/>
                <a:ea typeface="Arial"/>
                <a:cs typeface="Arial"/>
              </a:defRPr>
            </a:pPr>
            <a:r>
              <a:rPr sz="1650" b="0">
                <a:solidFill>
                  <a:srgbClr val="546663"/>
                </a:solidFill>
                <a:latin typeface="Arial"/>
                <a:ea typeface="Arial"/>
                <a:cs typeface="Arial"/>
              </a:rPr>
              <a:t>Recorded example: 10 Oct 2026. Refresh runs inference without retraining.</a:t>
            </a:r>
          </a:p>
        </p:txBody>
      </p:sp>
    </p:spTree>
    <p:extLst>
      <p:ext uri="{BB962C8B-B14F-4D97-AF65-F5344CB8AC3E}">
        <p14:creationId xmlns:p14="http://schemas.microsoft.com/office/powerpoint/2010/main" val="1734140126"/>
      </p:ext>
    </p:extLst>
  </p:cSld>
</p:sld>
</file>

<file path=ppt/slides/slide1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1252CD-5567-49B8-BC56-0875FAAF843E}"/>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Reproducibility and conclusion</a:t>
            </a:r>
          </a:p>
        </p:txBody>
      </p:sp>
      <p:sp>
        <p:nvSpPr>
          <p:cNvPr id="2" name="">
            <a:extLst xmlns:a="http://schemas.openxmlformats.org/drawingml/2006/main">
              <a:ext uri="{FF2B5EF4-FFF2-40B4-BE49-F238E27FC236}">
                <a16:creationId xmlns:a16="http://schemas.microsoft.com/office/drawing/2014/main" id="{03C324B1-5277-47D9-9B4D-8769445E84E9}"/>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AE01C42-B139-44B8-9EB3-B5CEB3C7FE4C}"/>
              </a:ext>
            </a:extLst>
          </p:cNvPr>
          <p:cNvSpPr>
            <a:spLocks xmlns:a="http://schemas.openxmlformats.org/drawingml/2006/main" noGrp="1"/>
          </p:cNvSpPr>
          <p:nvPr/>
        </p:nvSpPr>
        <p:spPr>
          <a:xfrm xmlns:a="http://schemas.openxmlformats.org/drawingml/2006/main">
            <a:off x="628650" y="17240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Reproduce</a:t>
            </a:r>
          </a:p>
        </p:txBody>
      </p:sp>
      <p:sp>
        <p:nvSpPr>
          <p:cNvPr id="4" name="">
            <a:extLst xmlns:a="http://schemas.openxmlformats.org/drawingml/2006/main">
              <a:ext uri="{FF2B5EF4-FFF2-40B4-BE49-F238E27FC236}">
                <a16:creationId xmlns:a16="http://schemas.microsoft.com/office/drawing/2014/main" id="{ED442791-AC4A-4453-AF6E-63023DC991BE}"/>
              </a:ext>
            </a:extLst>
          </p:cNvPr>
          <p:cNvSpPr>
            <a:spLocks xmlns:a="http://schemas.openxmlformats.org/drawingml/2006/main" noGrp="1"/>
          </p:cNvSpPr>
          <p:nvPr/>
        </p:nvSpPr>
        <p:spPr>
          <a:xfrm xmlns:a="http://schemas.openxmlformats.org/drawingml/2006/main">
            <a:off x="3381375" y="17240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Frozen snapshot, checksum and recorded experiment</a:t>
            </a:r>
          </a:p>
        </p:txBody>
      </p:sp>
      <p:sp>
        <p:nvSpPr>
          <p:cNvPr id="5" name="">
            <a:extLst xmlns:a="http://schemas.openxmlformats.org/drawingml/2006/main">
              <a:ext uri="{FF2B5EF4-FFF2-40B4-BE49-F238E27FC236}">
                <a16:creationId xmlns:a16="http://schemas.microsoft.com/office/drawing/2014/main" id="{45DE3BFD-68CC-4B30-BBA1-1618008D9E2E}"/>
              </a:ext>
            </a:extLst>
          </p:cNvPr>
          <p:cNvSpPr>
            <a:spLocks xmlns:a="http://schemas.openxmlformats.org/drawingml/2006/main" noGrp="1"/>
          </p:cNvSpPr>
          <p:nvPr/>
        </p:nvSpPr>
        <p:spPr>
          <a:xfrm xmlns:a="http://schemas.openxmlformats.org/drawingml/2006/main">
            <a:off x="628650" y="27622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BF5DCFC0-44D2-4922-BFCF-9D9A0A5C0AC7}"/>
              </a:ext>
            </a:extLst>
          </p:cNvPr>
          <p:cNvSpPr>
            <a:spLocks xmlns:a="http://schemas.openxmlformats.org/drawingml/2006/main" noGrp="1"/>
          </p:cNvSpPr>
          <p:nvPr/>
        </p:nvSpPr>
        <p:spPr>
          <a:xfrm xmlns:a="http://schemas.openxmlformats.org/drawingml/2006/main">
            <a:off x="3381375" y="27622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Fresh data, coverage checks and a separate new run</a:t>
            </a:r>
          </a:p>
        </p:txBody>
      </p:sp>
      <p:sp>
        <p:nvSpPr>
          <p:cNvPr id="7" name="">
            <a:extLst xmlns:a="http://schemas.openxmlformats.org/drawingml/2006/main">
              <a:ext uri="{FF2B5EF4-FFF2-40B4-BE49-F238E27FC236}">
                <a16:creationId xmlns:a16="http://schemas.microsoft.com/office/drawing/2014/main" id="{62497543-92BA-408A-89A9-E7CCD9A0DDC6}"/>
              </a:ext>
            </a:extLst>
          </p:cNvPr>
          <p:cNvSpPr>
            <a:spLocks xmlns:a="http://schemas.openxmlformats.org/drawingml/2006/main" noGrp="1"/>
          </p:cNvSpPr>
          <p:nvPr/>
        </p:nvSpPr>
        <p:spPr>
          <a:xfrm xmlns:a="http://schemas.openxmlformats.org/drawingml/2006/main">
            <a:off x="628650" y="409575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216657"/>
                </a:solidFill>
                <a:latin typeface="Arial"/>
                <a:ea typeface="Arial"/>
                <a:cs typeface="Arial"/>
              </a:defRPr>
            </a:defPPr>
          </a:lstStyle>
          <a:p xmlns:a="http://schemas.openxmlformats.org/drawingml/2006/main">
            <a:pPr>
              <a:defRPr sz="2925" b="1">
                <a:solidFill>
                  <a:srgbClr val="216657"/>
                </a:solidFill>
                <a:latin typeface="Arial"/>
                <a:ea typeface="Arial"/>
                <a:cs typeface="Arial"/>
              </a:defRPr>
            </a:pPr>
            <a:r>
              <a:rPr sz="2925" b="1">
                <a:solidFill>
                  <a:srgbClr val="216657"/>
                </a:solidFill>
                <a:latin typeface="Arial"/>
                <a:ea typeface="Arial"/>
                <a:cs typeface="Arial"/>
              </a:rPr>
              <a:t>Six-hour forecasts provide the strongest evidence of value</a:t>
            </a:r>
          </a:p>
        </p:txBody>
      </p:sp>
      <p:sp>
        <p:nvSpPr>
          <p:cNvPr id="8" name="">
            <a:extLst xmlns:a="http://schemas.openxmlformats.org/drawingml/2006/main">
              <a:ext uri="{FF2B5EF4-FFF2-40B4-BE49-F238E27FC236}">
                <a16:creationId xmlns:a16="http://schemas.microsoft.com/office/drawing/2014/main" id="{BFA24696-992B-466B-A622-F4DF785C0D52}"/>
              </a:ext>
            </a:extLst>
          </p:cNvPr>
          <p:cNvSpPr>
            <a:spLocks xmlns:a="http://schemas.openxmlformats.org/drawingml/2006/main" noGrp="1"/>
          </p:cNvSpPr>
          <p:nvPr/>
        </p:nvSpPr>
        <p:spPr>
          <a:xfrm xmlns:a="http://schemas.openxmlformats.org/drawingml/2006/main">
            <a:off x="628650" y="5267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52B29"/>
                </a:solidFill>
                <a:latin typeface="Arial"/>
                <a:ea typeface="Arial"/>
                <a:cs typeface="Arial"/>
              </a:defRPr>
            </a:defPPr>
          </a:lstStyle>
          <a:p xmlns:a="http://schemas.openxmlformats.org/drawingml/2006/main">
            <a:pPr>
              <a:defRPr sz="2175" b="0">
                <a:solidFill>
                  <a:srgbClr val="152B29"/>
                </a:solidFill>
                <a:latin typeface="Arial"/>
                <a:ea typeface="Arial"/>
                <a:cs typeface="Arial"/>
              </a:defRPr>
            </a:pPr>
            <a:r>
              <a:rPr sz="2175" b="0">
                <a:solidFill>
                  <a:srgbClr val="152B29"/>
                </a:solidFill>
                <a:latin typeface="Arial"/>
                <a:ea typeface="Arial"/>
                <a:cs typeface="Arial"/>
              </a:rPr>
              <a:t>Next step: evaluate weather inputs and a coverage fallback on new data</a:t>
            </a:r>
          </a:p>
        </p:txBody>
      </p:sp>
    </p:spTree>
    <p:extLst>
      <p:ext uri="{BB962C8B-B14F-4D97-AF65-F5344CB8AC3E}">
        <p14:creationId xmlns:p14="http://schemas.microsoft.com/office/powerpoint/2010/main" val="1724731775"/>
      </p:ext>
    </p:extLst>
  </p:cSld>
</p:sld>
</file>

<file path=ppt/slides/slide1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A3FADC-2354-4B6E-8187-4178320EB274}"/>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Five-minute demonstration route</a:t>
            </a:r>
          </a:p>
        </p:txBody>
      </p:sp>
      <p:sp>
        <p:nvSpPr>
          <p:cNvPr id="2" name="">
            <a:extLst xmlns:a="http://schemas.openxmlformats.org/drawingml/2006/main">
              <a:ext uri="{FF2B5EF4-FFF2-40B4-BE49-F238E27FC236}">
                <a16:creationId xmlns:a16="http://schemas.microsoft.com/office/drawing/2014/main" id="{6B5F1A94-32D4-456C-8F6D-F81F9390CBF5}"/>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2ABE859-DC1F-4716-B02B-89EC1E036D88}"/>
              </a:ext>
            </a:extLst>
          </p:cNvPr>
          <p:cNvSpPr>
            <a:spLocks xmlns:a="http://schemas.openxmlformats.org/drawingml/2006/main" noGrp="1"/>
          </p:cNvSpPr>
          <p:nvPr/>
        </p:nvSpPr>
        <p:spPr>
          <a:xfrm xmlns:a="http://schemas.openxmlformats.org/drawingml/2006/main">
            <a:off x="6096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46663"/>
                </a:solidFill>
                <a:latin typeface="Arial"/>
                <a:ea typeface="Arial"/>
                <a:cs typeface="Arial"/>
              </a:defRPr>
            </a:defPPr>
          </a:lstStyle>
          <a:p xmlns:a="http://schemas.openxmlformats.org/drawingml/2006/main">
            <a:pPr>
              <a:defRPr sz="1350" b="1">
                <a:solidFill>
                  <a:srgbClr val="546663"/>
                </a:solidFill>
                <a:latin typeface="Arial"/>
                <a:ea typeface="Arial"/>
                <a:cs typeface="Arial"/>
              </a:defRPr>
            </a:pPr>
            <a:r>
              <a:rPr sz="1350" b="1">
                <a:solidFill>
                  <a:srgbClr val="546663"/>
                </a:solidFill>
                <a:latin typeface="Arial"/>
                <a:ea typeface="Arial"/>
                <a:cs typeface="Arial"/>
              </a:rPr>
              <a:t>BACKUP</a:t>
            </a:r>
          </a:p>
        </p:txBody>
      </p:sp>
      <p:graphicFrame>
        <p:nvGraphicFramePr>
          <p:cNvPr id="4" name="">
            <a:extLst xmlns:a="http://schemas.openxmlformats.org/drawingml/2006/main">
              <a:ext uri="{FF2B5EF4-FFF2-40B4-BE49-F238E27FC236}">
                <a16:creationId xmlns:a16="http://schemas.microsoft.com/office/drawing/2014/main" id="{E3BE6798-679A-4066-B57F-AA2D68165589}"/>
              </a:ext>
            </a:extLst>
          </p:cNvPr>
          <p:cNvGraphicFramePr/>
          <p:nvPr/>
        </p:nvGraphicFramePr>
        <p:xfrm>
          <a:off xmlns:a="http://schemas.openxmlformats.org/drawingml/2006/main" x="609600" y="1647825"/>
          <a:ext xmlns:a="http://schemas.openxmlformats.org/drawingml/2006/main" cx="10953750" cy="3867150"/>
        </p:xfrm>
        <a:graphic xmlns:a="http://schemas.openxmlformats.org/drawingml/2006/main">
          <a:graphicData uri="http://schemas.openxmlformats.org/drawingml/2006/table">
            <a:tbl>
              <a:tblPr/>
              <a:tblGrid>
                <a:gridCol w="2381250"/>
                <a:gridCol w="8572500"/>
              </a:tblGrid>
              <a:tr h="644525">
                <a:tc>
                  <a:txBody>
                    <a:bodyPr/>
                    <a:lstStyle/>
                    <a:p>
                      <a:r>
                        <a:rPr sz="2025" b="1">
                          <a:solidFill>
                            <a:srgbClr val="FFFFFF"/>
                          </a:solidFill>
                          <a:latin typeface="Arial"/>
                          <a:ea typeface="Arial"/>
                          <a:cs typeface="Arial"/>
                        </a:rPr>
                        <a:t>Time</a:t>
                      </a:r>
                    </a:p>
                  </a:txBody>
                  <a:tcPr marL="133350" marR="133350" marT="95250" marB="95250">
                    <a:solidFill>
                      <a:srgbClr val="216657"/>
                    </a:solidFill>
                  </a:tcPr>
                </a:tc>
                <a:tc>
                  <a:txBody>
                    <a:bodyPr/>
                    <a:lstStyle/>
                    <a:p>
                      <a:r>
                        <a:rPr sz="2025" b="1">
                          <a:solidFill>
                            <a:srgbClr val="FFFFFF"/>
                          </a:solidFill>
                          <a:latin typeface="Arial"/>
                          <a:ea typeface="Arial"/>
                          <a:cs typeface="Arial"/>
                        </a:rPr>
                        <a:t>Demonstration</a:t>
                      </a:r>
                    </a:p>
                  </a:txBody>
                  <a:tcPr marL="133350" marR="133350" marT="95250" marB="95250">
                    <a:solidFill>
                      <a:srgbClr val="216657"/>
                    </a:solidFill>
                  </a:tcPr>
                </a:tc>
              </a:tr>
              <a:tr h="644525">
                <a:tc>
                  <a:txBody>
                    <a:bodyPr/>
                    <a:lstStyle/>
                    <a:p>
                      <a:r>
                        <a:rPr sz="2025" b="0">
                          <a:solidFill>
                            <a:srgbClr val="152B29"/>
                          </a:solidFill>
                          <a:latin typeface="Arial"/>
                          <a:ea typeface="Arial"/>
                          <a:cs typeface="Arial"/>
                        </a:rPr>
                        <a:t>0–1 min</a:t>
                      </a:r>
                    </a:p>
                  </a:txBody>
                  <a:tcPr marL="133350" marR="133350" marT="95250" marB="95250">
                    <a:solidFill>
                      <a:srgbClr val="FFFFFF"/>
                    </a:solidFill>
                  </a:tcPr>
                </a:tc>
                <a:tc>
                  <a:txBody>
                    <a:bodyPr/>
                    <a:lstStyle/>
                    <a:p>
                      <a:r>
                        <a:rPr sz="2025" b="0">
                          <a:solidFill>
                            <a:srgbClr val="152B29"/>
                          </a:solidFill>
                          <a:latin typeface="Arial"/>
                          <a:ea typeface="Arial"/>
                          <a:cs typeface="Arial"/>
                        </a:rPr>
                        <a:t>Station identity, origin timestamp and coverage</a:t>
                      </a:r>
                    </a:p>
                  </a:txBody>
                  <a:tcPr marL="133350" marR="133350" marT="95250" marB="95250">
                    <a:solidFill>
                      <a:srgbClr val="FFFFFF"/>
                    </a:solidFill>
                  </a:tcPr>
                </a:tc>
              </a:tr>
              <a:tr h="644525">
                <a:tc>
                  <a:txBody>
                    <a:bodyPr/>
                    <a:lstStyle/>
                    <a:p>
                      <a:r>
                        <a:rPr sz="2025" b="0">
                          <a:solidFill>
                            <a:srgbClr val="152B29"/>
                          </a:solidFill>
                          <a:latin typeface="Arial"/>
                          <a:ea typeface="Arial"/>
                          <a:cs typeface="Arial"/>
                        </a:rPr>
                        <a:t>1–2 min</a:t>
                      </a:r>
                    </a:p>
                  </a:txBody>
                  <a:tcPr marL="133350" marR="133350" marT="95250" marB="95250">
                    <a:solidFill>
                      <a:srgbClr val="F0F4EF"/>
                    </a:solidFill>
                  </a:tcPr>
                </a:tc>
                <a:tc>
                  <a:txBody>
                    <a:bodyPr/>
                    <a:lstStyle/>
                    <a:p>
                      <a:r>
                        <a:rPr sz="2025" b="0">
                          <a:solidFill>
                            <a:srgbClr val="152B29"/>
                          </a:solidFill>
                          <a:latin typeface="Arial"/>
                          <a:ea typeface="Arial"/>
                          <a:cs typeface="Arial"/>
                        </a:rPr>
                        <a:t>Forecast target dates and the next-day point</a:t>
                      </a:r>
                    </a:p>
                  </a:txBody>
                  <a:tcPr marL="133350" marR="133350" marT="95250" marB="95250">
                    <a:solidFill>
                      <a:srgbClr val="F0F4EF"/>
                    </a:solidFill>
                  </a:tcPr>
                </a:tc>
              </a:tr>
              <a:tr h="644525">
                <a:tc>
                  <a:txBody>
                    <a:bodyPr/>
                    <a:lstStyle/>
                    <a:p>
                      <a:r>
                        <a:rPr sz="2025" b="0">
                          <a:solidFill>
                            <a:srgbClr val="152B29"/>
                          </a:solidFill>
                          <a:latin typeface="Arial"/>
                          <a:ea typeface="Arial"/>
                          <a:cs typeface="Arial"/>
                        </a:rPr>
                        <a:t>2–3 min</a:t>
                      </a:r>
                    </a:p>
                  </a:txBody>
                  <a:tcPr marL="133350" marR="133350" marT="95250" marB="95250">
                    <a:solidFill>
                      <a:srgbClr val="FFFFFF"/>
                    </a:solidFill>
                  </a:tcPr>
                </a:tc>
                <a:tc>
                  <a:txBody>
                    <a:bodyPr/>
                    <a:lstStyle/>
                    <a:p>
                      <a:r>
                        <a:rPr sz="2025" b="0">
                          <a:solidFill>
                            <a:srgbClr val="152B29"/>
                          </a:solidFill>
                          <a:latin typeface="Arial"/>
                          <a:ea typeface="Arial"/>
                          <a:cs typeface="Arial"/>
                        </a:rPr>
                        <a:t>Refresh observations and export predictions</a:t>
                      </a:r>
                    </a:p>
                  </a:txBody>
                  <a:tcPr marL="133350" marR="133350" marT="95250" marB="95250">
                    <a:solidFill>
                      <a:srgbClr val="FFFFFF"/>
                    </a:solidFill>
                  </a:tcPr>
                </a:tc>
              </a:tr>
              <a:tr h="644525">
                <a:tc>
                  <a:txBody>
                    <a:bodyPr/>
                    <a:lstStyle/>
                    <a:p>
                      <a:r>
                        <a:rPr sz="2025" b="0">
                          <a:solidFill>
                            <a:srgbClr val="152B29"/>
                          </a:solidFill>
                          <a:latin typeface="Arial"/>
                          <a:ea typeface="Arial"/>
                          <a:cs typeface="Arial"/>
                        </a:rPr>
                        <a:t>3–4 min</a:t>
                      </a:r>
                    </a:p>
                  </a:txBody>
                  <a:tcPr marL="133350" marR="133350" marT="95250" marB="95250">
                    <a:solidFill>
                      <a:srgbClr val="F0F4EF"/>
                    </a:solidFill>
                  </a:tcPr>
                </a:tc>
                <a:tc>
                  <a:txBody>
                    <a:bodyPr/>
                    <a:lstStyle/>
                    <a:p>
                      <a:r>
                        <a:rPr sz="2025" b="0">
                          <a:solidFill>
                            <a:srgbClr val="152B29"/>
                          </a:solidFill>
                          <a:latin typeface="Arial"/>
                          <a:ea typeface="Arial"/>
                          <a:cs typeface="Arial"/>
                        </a:rPr>
                        <a:t>Historical replay with observed outcomes</a:t>
                      </a:r>
                    </a:p>
                  </a:txBody>
                  <a:tcPr marL="133350" marR="133350" marT="95250" marB="95250">
                    <a:solidFill>
                      <a:srgbClr val="F0F4EF"/>
                    </a:solidFill>
                  </a:tcPr>
                </a:tc>
              </a:tr>
              <a:tr h="644525">
                <a:tc>
                  <a:txBody>
                    <a:bodyPr/>
                    <a:lstStyle/>
                    <a:p>
                      <a:r>
                        <a:rPr sz="2025" b="0">
                          <a:solidFill>
                            <a:srgbClr val="152B29"/>
                          </a:solidFill>
                          <a:latin typeface="Arial"/>
                          <a:ea typeface="Arial"/>
                          <a:cs typeface="Arial"/>
                        </a:rPr>
                        <a:t>4–5 min</a:t>
                      </a:r>
                    </a:p>
                  </a:txBody>
                  <a:tcPr marL="133350" marR="133350" marT="95250" marB="95250">
                    <a:solidFill>
                      <a:srgbClr val="FFFFFF"/>
                    </a:solidFill>
                  </a:tcPr>
                </a:tc>
                <a:tc>
                  <a:txBody>
                    <a:bodyPr/>
                    <a:lstStyle/>
                    <a:p>
                      <a:r>
                        <a:rPr sz="2025" b="0">
                          <a:solidFill>
                            <a:srgbClr val="152B29"/>
                          </a:solidFill>
                          <a:latin typeface="Arial"/>
                          <a:ea typeface="Arial"/>
                          <a:cs typeface="Arial"/>
                        </a:rPr>
                        <a:t>Station directory and reproducibility explanation</a:t>
                      </a:r>
                    </a:p>
                  </a:txBody>
                  <a:tcPr marL="133350" marR="133350" marT="95250" marB="952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E8288B6-3B57-4D0F-91A0-379C1B52CACA}"/>
              </a:ext>
            </a:extLst>
          </p:cNvPr>
          <p:cNvSpPr>
            <a:spLocks xmlns:a="http://schemas.openxmlformats.org/drawingml/2006/main" noGrp="1"/>
          </p:cNvSpPr>
          <p:nvPr/>
        </p:nvSpPr>
        <p:spPr>
          <a:xfrm xmlns:a="http://schemas.openxmlformats.org/drawingml/2006/main">
            <a:off x="628650" y="58293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16657"/>
                </a:solidFill>
                <a:latin typeface="Arial"/>
                <a:ea typeface="Arial"/>
                <a:cs typeface="Arial"/>
              </a:defRPr>
            </a:defPPr>
          </a:lstStyle>
          <a:p xmlns:a="http://schemas.openxmlformats.org/drawingml/2006/main">
            <a:pPr>
              <a:defRPr sz="2025" b="1">
                <a:solidFill>
                  <a:srgbClr val="216657"/>
                </a:solidFill>
                <a:latin typeface="Arial"/>
                <a:ea typeface="Arial"/>
                <a:cs typeface="Arial"/>
              </a:defRPr>
            </a:pPr>
            <a:r>
              <a:rPr sz="2025" b="1">
                <a:solidFill>
                  <a:srgbClr val="216657"/>
                </a:solidFill>
                <a:latin typeface="Arial"/>
                <a:ea typeface="Arial"/>
                <a:cs typeface="Arial"/>
              </a:rPr>
              <a:t>Local application: http://127.0.0.1:8000/</a:t>
            </a:r>
          </a:p>
        </p:txBody>
      </p:sp>
    </p:spTree>
    <p:extLst>
      <p:ext uri="{BB962C8B-B14F-4D97-AF65-F5344CB8AC3E}">
        <p14:creationId xmlns:p14="http://schemas.microsoft.com/office/powerpoint/2010/main" val="672712274"/>
      </p:ext>
    </p:extLst>
  </p:cSld>
</p:sld>
</file>

<file path=ppt/slides/slide1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99DCDB-855B-4542-9143-A801022748ED}"/>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Questions to prepare for</a:t>
            </a:r>
          </a:p>
        </p:txBody>
      </p:sp>
      <p:sp>
        <p:nvSpPr>
          <p:cNvPr id="2" name="">
            <a:extLst xmlns:a="http://schemas.openxmlformats.org/drawingml/2006/main">
              <a:ext uri="{FF2B5EF4-FFF2-40B4-BE49-F238E27FC236}">
                <a16:creationId xmlns:a16="http://schemas.microsoft.com/office/drawing/2014/main" id="{1CB0A9CA-44B0-4A47-AC2B-9F5E54DF5FA6}"/>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C2F4B818-55DA-4F38-B1FC-39F5CBE38211}"/>
              </a:ext>
            </a:extLst>
          </p:cNvPr>
          <p:cNvSpPr>
            <a:spLocks xmlns:a="http://schemas.openxmlformats.org/drawingml/2006/main" noGrp="1"/>
          </p:cNvSpPr>
          <p:nvPr/>
        </p:nvSpPr>
        <p:spPr>
          <a:xfrm xmlns:a="http://schemas.openxmlformats.org/drawingml/2006/main">
            <a:off x="6096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46663"/>
                </a:solidFill>
                <a:latin typeface="Arial"/>
                <a:ea typeface="Arial"/>
                <a:cs typeface="Arial"/>
              </a:defRPr>
            </a:defPPr>
          </a:lstStyle>
          <a:p xmlns:a="http://schemas.openxmlformats.org/drawingml/2006/main">
            <a:pPr>
              <a:defRPr sz="1350" b="1">
                <a:solidFill>
                  <a:srgbClr val="546663"/>
                </a:solidFill>
                <a:latin typeface="Arial"/>
                <a:ea typeface="Arial"/>
                <a:cs typeface="Arial"/>
              </a:defRPr>
            </a:pPr>
            <a:r>
              <a:rPr sz="1350" b="1">
                <a:solidFill>
                  <a:srgbClr val="546663"/>
                </a:solidFill>
                <a:latin typeface="Arial"/>
                <a:ea typeface="Arial"/>
                <a:cs typeface="Arial"/>
              </a:rPr>
              <a:t>BACKUP</a:t>
            </a:r>
          </a:p>
        </p:txBody>
      </p:sp>
      <p:sp>
        <p:nvSpPr>
          <p:cNvPr id="4" name="">
            <a:extLst xmlns:a="http://schemas.openxmlformats.org/drawingml/2006/main">
              <a:ext uri="{FF2B5EF4-FFF2-40B4-BE49-F238E27FC236}">
                <a16:creationId xmlns:a16="http://schemas.microsoft.com/office/drawing/2014/main" id="{AB638248-1CF3-4016-A58F-0C6EFC57403A}"/>
              </a:ext>
            </a:extLst>
          </p:cNvPr>
          <p:cNvSpPr>
            <a:spLocks xmlns:a="http://schemas.openxmlformats.org/drawingml/2006/main" noGrp="1"/>
          </p:cNvSpPr>
          <p:nvPr/>
        </p:nvSpPr>
        <p:spPr>
          <a:xfrm xmlns:a="http://schemas.openxmlformats.org/drawingml/2006/main">
            <a:off x="628650" y="168592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Why XGBoost?</a:t>
            </a:r>
          </a:p>
        </p:txBody>
      </p:sp>
      <p:sp>
        <p:nvSpPr>
          <p:cNvPr id="5" name="">
            <a:extLst xmlns:a="http://schemas.openxmlformats.org/drawingml/2006/main">
              <a:ext uri="{FF2B5EF4-FFF2-40B4-BE49-F238E27FC236}">
                <a16:creationId xmlns:a16="http://schemas.microsoft.com/office/drawing/2014/main" id="{0EFDE2ED-5913-4C92-BF18-86B8AB4B8CB8}"/>
              </a:ext>
            </a:extLst>
          </p:cNvPr>
          <p:cNvSpPr>
            <a:spLocks xmlns:a="http://schemas.openxmlformats.org/drawingml/2006/main" noGrp="1"/>
          </p:cNvSpPr>
          <p:nvPr/>
        </p:nvSpPr>
        <p:spPr>
          <a:xfrm xmlns:a="http://schemas.openxmlformats.org/drawingml/2006/main">
            <a:off x="3381375" y="168592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It achieved the lowest validation MAE in the fixed search</a:t>
            </a:r>
          </a:p>
        </p:txBody>
      </p:sp>
      <p:sp>
        <p:nvSpPr>
          <p:cNvPr id="6" name="">
            <a:extLst xmlns:a="http://schemas.openxmlformats.org/drawingml/2006/main">
              <a:ext uri="{FF2B5EF4-FFF2-40B4-BE49-F238E27FC236}">
                <a16:creationId xmlns:a16="http://schemas.microsoft.com/office/drawing/2014/main" id="{42F5C6A8-D703-4FCA-ACCE-32CE69356806}"/>
              </a:ext>
            </a:extLst>
          </p:cNvPr>
          <p:cNvSpPr>
            <a:spLocks xmlns:a="http://schemas.openxmlformats.org/drawingml/2006/main" noGrp="1"/>
          </p:cNvSpPr>
          <p:nvPr/>
        </p:nvSpPr>
        <p:spPr>
          <a:xfrm xmlns:a="http://schemas.openxmlformats.org/drawingml/2006/main">
            <a:off x="628650" y="268605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Tomorrow’s date?</a:t>
            </a:r>
          </a:p>
        </p:txBody>
      </p:sp>
      <p:sp>
        <p:nvSpPr>
          <p:cNvPr id="7" name="">
            <a:extLst xmlns:a="http://schemas.openxmlformats.org/drawingml/2006/main">
              <a:ext uri="{FF2B5EF4-FFF2-40B4-BE49-F238E27FC236}">
                <a16:creationId xmlns:a16="http://schemas.microsoft.com/office/drawing/2014/main" id="{6E9949E2-76D2-43B0-8A49-FF0079AF3A8F}"/>
              </a:ext>
            </a:extLst>
          </p:cNvPr>
          <p:cNvSpPr>
            <a:spLocks xmlns:a="http://schemas.openxmlformats.org/drawingml/2006/main" noGrp="1"/>
          </p:cNvSpPr>
          <p:nvPr/>
        </p:nvSpPr>
        <p:spPr>
          <a:xfrm xmlns:a="http://schemas.openxmlformats.org/drawingml/2006/main">
            <a:off x="3381375" y="26860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24 hours after the latest measured origin</a:t>
            </a:r>
          </a:p>
        </p:txBody>
      </p:sp>
      <p:sp>
        <p:nvSpPr>
          <p:cNvPr id="8" name="">
            <a:extLst xmlns:a="http://schemas.openxmlformats.org/drawingml/2006/main">
              <a:ext uri="{FF2B5EF4-FFF2-40B4-BE49-F238E27FC236}">
                <a16:creationId xmlns:a16="http://schemas.microsoft.com/office/drawing/2014/main" id="{2FFD1469-D44B-4ABB-94E5-5447F0B5BE26}"/>
              </a:ext>
            </a:extLst>
          </p:cNvPr>
          <p:cNvSpPr>
            <a:spLocks xmlns:a="http://schemas.openxmlformats.org/drawingml/2006/main" noGrp="1"/>
          </p:cNvSpPr>
          <p:nvPr/>
        </p:nvSpPr>
        <p:spPr>
          <a:xfrm xmlns:a="http://schemas.openxmlformats.org/drawingml/2006/main">
            <a:off x="628650" y="3686175"/>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Where does it fail?</a:t>
            </a:r>
          </a:p>
        </p:txBody>
      </p:sp>
      <p:sp>
        <p:nvSpPr>
          <p:cNvPr id="9" name="">
            <a:extLst xmlns:a="http://schemas.openxmlformats.org/drawingml/2006/main">
              <a:ext uri="{FF2B5EF4-FFF2-40B4-BE49-F238E27FC236}">
                <a16:creationId xmlns:a16="http://schemas.microsoft.com/office/drawing/2014/main" id="{6A32D5B7-D6EC-4B55-B3B6-70DFCE1FBED0}"/>
              </a:ext>
            </a:extLst>
          </p:cNvPr>
          <p:cNvSpPr>
            <a:spLocks xmlns:a="http://schemas.openxmlformats.org/drawingml/2006/main" noGrp="1"/>
          </p:cNvSpPr>
          <p:nvPr/>
        </p:nvSpPr>
        <p:spPr>
          <a:xfrm xmlns:a="http://schemas.openxmlformats.org/drawingml/2006/main">
            <a:off x="3381375" y="3686175"/>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Pollution peaks, spring and sparse weekly history</a:t>
            </a:r>
          </a:p>
        </p:txBody>
      </p:sp>
      <p:sp>
        <p:nvSpPr>
          <p:cNvPr id="10" name="">
            <a:extLst xmlns:a="http://schemas.openxmlformats.org/drawingml/2006/main">
              <a:ext uri="{FF2B5EF4-FFF2-40B4-BE49-F238E27FC236}">
                <a16:creationId xmlns:a16="http://schemas.microsoft.com/office/drawing/2014/main" id="{2A02E742-C72A-41B2-9B2F-24B617475BAA}"/>
              </a:ext>
            </a:extLst>
          </p:cNvPr>
          <p:cNvSpPr>
            <a:spLocks xmlns:a="http://schemas.openxmlformats.org/drawingml/2006/main" noGrp="1"/>
          </p:cNvSpPr>
          <p:nvPr/>
        </p:nvSpPr>
        <p:spPr>
          <a:xfrm xmlns:a="http://schemas.openxmlformats.org/drawingml/2006/main">
            <a:off x="628650" y="4686300"/>
            <a:ext cx="252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657"/>
                </a:solidFill>
                <a:latin typeface="Arial"/>
                <a:ea typeface="Arial"/>
                <a:cs typeface="Arial"/>
              </a:defRPr>
            </a:defPPr>
          </a:lstStyle>
          <a:p xmlns:a="http://schemas.openxmlformats.org/drawingml/2006/main">
            <a:pPr>
              <a:defRPr sz="2100" b="1">
                <a:solidFill>
                  <a:srgbClr val="216657"/>
                </a:solidFill>
                <a:latin typeface="Arial"/>
                <a:ea typeface="Arial"/>
                <a:cs typeface="Arial"/>
              </a:defRPr>
            </a:pPr>
            <a:r>
              <a:rPr sz="2100" b="1">
                <a:solidFill>
                  <a:srgbClr val="216657"/>
                </a:solidFill>
                <a:latin typeface="Arial"/>
                <a:ea typeface="Arial"/>
                <a:cs typeface="Arial"/>
              </a:rPr>
              <a:t>Is it continuous live data?</a:t>
            </a:r>
          </a:p>
        </p:txBody>
      </p:sp>
      <p:sp>
        <p:nvSpPr>
          <p:cNvPr id="11" name="">
            <a:extLst xmlns:a="http://schemas.openxmlformats.org/drawingml/2006/main">
              <a:ext uri="{FF2B5EF4-FFF2-40B4-BE49-F238E27FC236}">
                <a16:creationId xmlns:a16="http://schemas.microsoft.com/office/drawing/2014/main" id="{2EA1E905-2BF1-4A8C-B4C3-5111D14DE175}"/>
              </a:ext>
            </a:extLst>
          </p:cNvPr>
          <p:cNvSpPr>
            <a:spLocks xmlns:a="http://schemas.openxmlformats.org/drawingml/2006/main" noGrp="1"/>
          </p:cNvSpPr>
          <p:nvPr/>
        </p:nvSpPr>
        <p:spPr>
          <a:xfrm xmlns:a="http://schemas.openxmlformats.org/drawingml/2006/main">
            <a:off x="3381375" y="468630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Public snapshots update daily and can arrive late</a:t>
            </a:r>
          </a:p>
        </p:txBody>
      </p:sp>
    </p:spTree>
    <p:extLst>
      <p:ext uri="{BB962C8B-B14F-4D97-AF65-F5344CB8AC3E}">
        <p14:creationId xmlns:p14="http://schemas.microsoft.com/office/powerpoint/2010/main" val="765374406"/>
      </p:ext>
    </p:extLst>
  </p:cSld>
</p:sld>
</file>

<file path=ppt/slides/slide1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2F277B-EB19-480A-BC43-B4A609C65027}"/>
              </a:ext>
            </a:extLst>
          </p:cNvPr>
          <p:cNvSpPr>
            <a:spLocks xmlns:a="http://schemas.openxmlformats.org/drawingml/2006/main" noGrp="1"/>
          </p:cNvSpPr>
          <p:nvPr/>
        </p:nvSpPr>
        <p:spPr>
          <a:xfrm xmlns:a="http://schemas.openxmlformats.org/drawingml/2006/main">
            <a:off x="609600" y="419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52B29"/>
                </a:solidFill>
                <a:latin typeface="Arial"/>
                <a:ea typeface="Arial"/>
                <a:cs typeface="Arial"/>
              </a:defRPr>
            </a:defPPr>
          </a:lstStyle>
          <a:p xmlns:a="http://schemas.openxmlformats.org/drawingml/2006/main">
            <a:pPr>
              <a:defRPr sz="3300" b="1">
                <a:solidFill>
                  <a:srgbClr val="152B29"/>
                </a:solidFill>
                <a:latin typeface="Arial"/>
                <a:ea typeface="Arial"/>
                <a:cs typeface="Arial"/>
              </a:defRPr>
            </a:pPr>
            <a:r>
              <a:rPr sz="3300" b="1">
                <a:solidFill>
                  <a:srgbClr val="152B29"/>
                </a:solidFill>
                <a:latin typeface="Arial"/>
                <a:ea typeface="Arial"/>
                <a:cs typeface="Arial"/>
              </a:rPr>
              <a:t>Sources and supporting materials</a:t>
            </a:r>
          </a:p>
        </p:txBody>
      </p:sp>
      <p:sp>
        <p:nvSpPr>
          <p:cNvPr id="2" name="">
            <a:extLst xmlns:a="http://schemas.openxmlformats.org/drawingml/2006/main">
              <a:ext uri="{FF2B5EF4-FFF2-40B4-BE49-F238E27FC236}">
                <a16:creationId xmlns:a16="http://schemas.microsoft.com/office/drawing/2014/main" id="{5F714DB6-684F-4DD9-8FF5-4787C9A7E4FA}"/>
              </a:ext>
            </a:extLst>
          </p:cNvPr>
          <p:cNvSpPr>
            <a:spLocks xmlns:a="http://schemas.openxmlformats.org/drawingml/2006/main" noGrp="1"/>
          </p:cNvSpPr>
          <p:nvPr/>
        </p:nvSpPr>
        <p:spPr>
          <a:xfrm xmlns:a="http://schemas.openxmlformats.org/drawingml/2006/main">
            <a:off x="11144250" y="63531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46663"/>
                </a:solidFill>
                <a:latin typeface="Arial"/>
                <a:ea typeface="Arial"/>
                <a:cs typeface="Arial"/>
              </a:defRPr>
            </a:defPPr>
          </a:lstStyle>
          <a:p xmlns:a="http://schemas.openxmlformats.org/drawingml/2006/main">
            <a:pPr>
              <a:defRPr sz="1350" b="0">
                <a:solidFill>
                  <a:srgbClr val="546663"/>
                </a:solidFill>
                <a:latin typeface="Arial"/>
                <a:ea typeface="Arial"/>
                <a:cs typeface="Arial"/>
              </a:defRPr>
            </a:pPr>
            <a:r>
              <a:rPr sz="1350" b="0">
                <a:solidFill>
                  <a:srgbClr val="546663"/>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BA8D46DE-0498-4B05-BCF1-4E2B32197FE7}"/>
              </a:ext>
            </a:extLst>
          </p:cNvPr>
          <p:cNvSpPr>
            <a:spLocks xmlns:a="http://schemas.openxmlformats.org/drawingml/2006/main" noGrp="1"/>
          </p:cNvSpPr>
          <p:nvPr/>
        </p:nvSpPr>
        <p:spPr>
          <a:xfrm xmlns:a="http://schemas.openxmlformats.org/drawingml/2006/main">
            <a:off x="609600" y="6362700"/>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546663"/>
                </a:solidFill>
                <a:latin typeface="Arial"/>
                <a:ea typeface="Arial"/>
                <a:cs typeface="Arial"/>
              </a:defRPr>
            </a:defPPr>
          </a:lstStyle>
          <a:p xmlns:a="http://schemas.openxmlformats.org/drawingml/2006/main">
            <a:pPr>
              <a:defRPr sz="1350" b="1">
                <a:solidFill>
                  <a:srgbClr val="546663"/>
                </a:solidFill>
                <a:latin typeface="Arial"/>
                <a:ea typeface="Arial"/>
                <a:cs typeface="Arial"/>
              </a:defRPr>
            </a:pPr>
            <a:r>
              <a:rPr sz="1350" b="1">
                <a:solidFill>
                  <a:srgbClr val="546663"/>
                </a:solidFill>
                <a:latin typeface="Arial"/>
                <a:ea typeface="Arial"/>
                <a:cs typeface="Arial"/>
              </a:rPr>
              <a:t>BACKUP</a:t>
            </a:r>
          </a:p>
        </p:txBody>
      </p:sp>
      <p:sp>
        <p:nvSpPr>
          <p:cNvPr id="4" name="">
            <a:extLst xmlns:a="http://schemas.openxmlformats.org/drawingml/2006/main">
              <a:ext uri="{FF2B5EF4-FFF2-40B4-BE49-F238E27FC236}">
                <a16:creationId xmlns:a16="http://schemas.microsoft.com/office/drawing/2014/main" id="{F9B9D2A0-E210-4302-B3A3-3361654BA57B}"/>
              </a:ext>
            </a:extLst>
          </p:cNvPr>
          <p:cNvSpPr>
            <a:spLocks xmlns:a="http://schemas.openxmlformats.org/drawingml/2006/main" noGrp="1"/>
          </p:cNvSpPr>
          <p:nvPr/>
        </p:nvSpPr>
        <p:spPr>
          <a:xfrm xmlns:a="http://schemas.openxmlformats.org/drawingml/2006/main">
            <a:off x="628650" y="1685925"/>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52B29"/>
                </a:solidFill>
                <a:latin typeface="Arial"/>
                <a:ea typeface="Arial"/>
                <a:cs typeface="Arial"/>
              </a:defRPr>
            </a:defPPr>
          </a:lstStyle>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AirData.kz and original measurement providers</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Open observations for Kazakhstan</a:t>
            </a:r>
          </a:p>
          <a:p xmlns:a="http://schemas.openxmlformats.org/drawingml/2006/main">
            <a:pPr>
              <a:defRPr sz="2025" b="0">
                <a:solidFill>
                  <a:srgbClr val="152B29"/>
                </a:solidFill>
                <a:latin typeface="Arial"/>
                <a:ea typeface="Arial"/>
                <a:cs typeface="Arial"/>
              </a:defRPr>
            </a:pPr>
            <a:r>
              <a:rPr sz="2025" b="0">
                <a:solidFill>
                  <a:srgbClr val="152B29"/>
                </a:solidFill>
                <a:latin typeface="Arial"/>
                <a:ea typeface="Arial"/>
                <a:cs typeface="Arial"/>
              </a:rPr>
              <a:t>https://github.com/qazybekb/AirDatakz-OpenData</a:t>
            </a:r>
          </a:p>
        </p:txBody>
      </p:sp>
      <p:sp>
        <p:nvSpPr>
          <p:cNvPr id="5" name="">
            <a:extLst xmlns:a="http://schemas.openxmlformats.org/drawingml/2006/main">
              <a:ext uri="{FF2B5EF4-FFF2-40B4-BE49-F238E27FC236}">
                <a16:creationId xmlns:a16="http://schemas.microsoft.com/office/drawing/2014/main" id="{656C1640-2F98-4692-BC89-22353E3984C6}"/>
              </a:ext>
            </a:extLst>
          </p:cNvPr>
          <p:cNvSpPr>
            <a:spLocks xmlns:a="http://schemas.openxmlformats.org/drawingml/2006/main" noGrp="1"/>
          </p:cNvSpPr>
          <p:nvPr/>
        </p:nvSpPr>
        <p:spPr>
          <a:xfrm xmlns:a="http://schemas.openxmlformats.org/drawingml/2006/main">
            <a:off x="628650" y="307657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Chen and Guestrin (2016)</a:t>
            </a:r>
          </a:p>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XGBoost: A Scalable Tree Boosting System</a:t>
            </a:r>
          </a:p>
        </p:txBody>
      </p:sp>
      <p:sp>
        <p:nvSpPr>
          <p:cNvPr id="6" name="">
            <a:extLst xmlns:a="http://schemas.openxmlformats.org/drawingml/2006/main">
              <a:ext uri="{FF2B5EF4-FFF2-40B4-BE49-F238E27FC236}">
                <a16:creationId xmlns:a16="http://schemas.microsoft.com/office/drawing/2014/main" id="{7B84568A-FB38-4B06-A143-FFBA8C182DC1}"/>
              </a:ext>
            </a:extLst>
          </p:cNvPr>
          <p:cNvSpPr>
            <a:spLocks xmlns:a="http://schemas.openxmlformats.org/drawingml/2006/main" noGrp="1"/>
          </p:cNvSpPr>
          <p:nvPr/>
        </p:nvSpPr>
        <p:spPr>
          <a:xfrm xmlns:a="http://schemas.openxmlformats.org/drawingml/2006/main">
            <a:off x="628650" y="41719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52B29"/>
                </a:solidFill>
                <a:latin typeface="Arial"/>
                <a:ea typeface="Arial"/>
                <a:cs typeface="Arial"/>
              </a:defRPr>
            </a:defPPr>
          </a:lstStyle>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Hyndman and Athanasopoulos (2021)</a:t>
            </a:r>
          </a:p>
          <a:p xmlns:a="http://schemas.openxmlformats.org/drawingml/2006/main">
            <a:pPr>
              <a:defRPr sz="2100" b="0">
                <a:solidFill>
                  <a:srgbClr val="152B29"/>
                </a:solidFill>
                <a:latin typeface="Arial"/>
                <a:ea typeface="Arial"/>
                <a:cs typeface="Arial"/>
              </a:defRPr>
            </a:pPr>
            <a:r>
              <a:rPr sz="2100" b="0">
                <a:solidFill>
                  <a:srgbClr val="152B29"/>
                </a:solidFill>
                <a:latin typeface="Arial"/>
                <a:ea typeface="Arial"/>
                <a:cs typeface="Arial"/>
              </a:rPr>
              <a:t>Forecasting: Principles and Practice, third edition</a:t>
            </a:r>
          </a:p>
        </p:txBody>
      </p:sp>
      <p:sp>
        <p:nvSpPr>
          <p:cNvPr id="7" name="">
            <a:extLst xmlns:a="http://schemas.openxmlformats.org/drawingml/2006/main">
              <a:ext uri="{FF2B5EF4-FFF2-40B4-BE49-F238E27FC236}">
                <a16:creationId xmlns:a16="http://schemas.microsoft.com/office/drawing/2014/main" id="{2CE024E7-107D-4FC1-9478-B9F54941FD51}"/>
              </a:ext>
            </a:extLst>
          </p:cNvPr>
          <p:cNvSpPr>
            <a:spLocks xmlns:a="http://schemas.openxmlformats.org/drawingml/2006/main" noGrp="1"/>
          </p:cNvSpPr>
          <p:nvPr/>
        </p:nvSpPr>
        <p:spPr>
          <a:xfrm xmlns:a="http://schemas.openxmlformats.org/drawingml/2006/main">
            <a:off x="628650" y="5476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216657"/>
                </a:solidFill>
                <a:latin typeface="Arial"/>
                <a:ea typeface="Arial"/>
                <a:cs typeface="Arial"/>
              </a:defRPr>
            </a:defPPr>
          </a:lstStyle>
          <a:p xmlns:a="http://schemas.openxmlformats.org/drawingml/2006/main">
            <a:pPr>
              <a:defRPr sz="1950" b="1">
                <a:solidFill>
                  <a:srgbClr val="216657"/>
                </a:solidFill>
                <a:latin typeface="Arial"/>
                <a:ea typeface="Arial"/>
                <a:cs typeface="Arial"/>
              </a:defRPr>
            </a:pPr>
            <a:r>
              <a:rPr sz="1950" b="1">
                <a:solidFill>
                  <a:srgbClr val="216657"/>
                </a:solidFill>
                <a:latin typeface="Arial"/>
                <a:ea typeface="Arial"/>
                <a:cs typeface="Arial"/>
              </a:rPr>
              <a:t>Research paper, notebook, saved experiments and model failure discussion</a:t>
            </a:r>
          </a:p>
        </p:txBody>
      </p:sp>
    </p:spTree>
    <p:extLst>
      <p:ext uri="{BB962C8B-B14F-4D97-AF65-F5344CB8AC3E}">
        <p14:creationId xmlns:p14="http://schemas.microsoft.com/office/powerpoint/2010/main" val="971448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2026-10-10T13:42:37.2170000Z</dcterms:created>
  <dcterms:modified xsi:type="dcterms:W3CDTF">2026-10-10T13:42:37.2170000Z</dcterms:modified>
</coreProperties>
</file>